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League Gothic" charset="1" panose="00000500000000000000"/>
      <p:regular r:id="rId21"/>
    </p:embeddedFont>
    <p:embeddedFont>
      <p:font typeface="Lora" charset="1" panose="00000500000000000000"/>
      <p:regular r:id="rId22"/>
    </p:embeddedFont>
    <p:embeddedFont>
      <p:font typeface="Lora Bold Italics" charset="1" panose="00000800000000000000"/>
      <p:regular r:id="rId23"/>
    </p:embeddedFont>
    <p:embeddedFont>
      <p:font typeface="Lora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56500" y="9023475"/>
            <a:ext cx="11219657" cy="1798387"/>
            <a:chOff x="0" y="0"/>
            <a:chExt cx="14959543" cy="2397850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12680937" y="2397850"/>
                  </a:moveTo>
                  <a:lnTo>
                    <a:pt x="0" y="2397850"/>
                  </a:lnTo>
                  <a:lnTo>
                    <a:pt x="0" y="0"/>
                  </a:lnTo>
                  <a:lnTo>
                    <a:pt x="12680937" y="0"/>
                  </a:lnTo>
                  <a:lnTo>
                    <a:pt x="12680937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12680937" y="2397850"/>
                  </a:moveTo>
                  <a:lnTo>
                    <a:pt x="0" y="2397850"/>
                  </a:lnTo>
                  <a:lnTo>
                    <a:pt x="0" y="0"/>
                  </a:lnTo>
                  <a:lnTo>
                    <a:pt x="12680937" y="0"/>
                  </a:lnTo>
                  <a:lnTo>
                    <a:pt x="12680937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12680937" y="2397850"/>
                  </a:moveTo>
                  <a:lnTo>
                    <a:pt x="0" y="2397850"/>
                  </a:lnTo>
                  <a:lnTo>
                    <a:pt x="0" y="0"/>
                  </a:lnTo>
                  <a:lnTo>
                    <a:pt x="12680937" y="0"/>
                  </a:lnTo>
                  <a:lnTo>
                    <a:pt x="12680937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220066" y="6709384"/>
            <a:ext cx="3666611" cy="3213285"/>
          </a:xfrm>
          <a:custGeom>
            <a:avLst/>
            <a:gdLst/>
            <a:ahLst/>
            <a:cxnLst/>
            <a:rect r="r" b="b" t="t" l="l"/>
            <a:pathLst>
              <a:path h="3213285" w="3666611">
                <a:moveTo>
                  <a:pt x="0" y="0"/>
                </a:moveTo>
                <a:lnTo>
                  <a:pt x="3666611" y="0"/>
                </a:lnTo>
                <a:lnTo>
                  <a:pt x="3666611" y="3213285"/>
                </a:lnTo>
                <a:lnTo>
                  <a:pt x="0" y="32132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7325" y="1566839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0"/>
                </a:moveTo>
                <a:lnTo>
                  <a:pt x="3939305" y="0"/>
                </a:lnTo>
                <a:lnTo>
                  <a:pt x="3939305" y="3576661"/>
                </a:lnTo>
                <a:lnTo>
                  <a:pt x="0" y="35766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53329" y="3218095"/>
            <a:ext cx="12581343" cy="1455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04"/>
              </a:lnSpc>
            </a:pPr>
            <a:r>
              <a:rPr lang="en-US" sz="10575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RAG-CHATBOT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97930" y="5982454"/>
            <a:ext cx="6892141" cy="219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1"/>
              </a:lnSpc>
            </a:pPr>
            <a:r>
              <a:rPr lang="en-US" sz="4049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ARSITEKTUR, ALUR DATA, IMPLEMENTASI, DAN RENCANA PENGEMBANGAN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58511"/>
            <a:ext cx="4950397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Dokumentasi RAG-Chatbot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79121" y="523875"/>
            <a:ext cx="4880179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Sistem AI Chatbot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31905" y="8988216"/>
            <a:ext cx="11219657" cy="1798387"/>
            <a:chOff x="0" y="0"/>
            <a:chExt cx="14959543" cy="239785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22837" y="3474591"/>
            <a:ext cx="6387019" cy="1154853"/>
            <a:chOff x="0" y="0"/>
            <a:chExt cx="8516025" cy="153980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312825" cy="1336605"/>
              <a:chOff x="0" y="0"/>
              <a:chExt cx="1642040" cy="26402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03200" y="203200"/>
              <a:ext cx="8312825" cy="1336605"/>
              <a:chOff x="0" y="0"/>
              <a:chExt cx="1642040" cy="26402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38100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2522837" y="4806692"/>
            <a:ext cx="6387019" cy="1154853"/>
            <a:chOff x="0" y="0"/>
            <a:chExt cx="8516025" cy="153980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312825" cy="1336605"/>
              <a:chOff x="0" y="0"/>
              <a:chExt cx="1642040" cy="26402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03200" y="203200"/>
              <a:ext cx="8312825" cy="1336605"/>
              <a:chOff x="0" y="0"/>
              <a:chExt cx="1642040" cy="26402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38100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</p:grpSp>
      <p:sp>
        <p:nvSpPr>
          <p:cNvPr name="Freeform 20" id="20"/>
          <p:cNvSpPr/>
          <p:nvPr/>
        </p:nvSpPr>
        <p:spPr>
          <a:xfrm flipH="true" flipV="false" rot="0">
            <a:off x="0" y="6796571"/>
            <a:ext cx="3982855" cy="3490429"/>
          </a:xfrm>
          <a:custGeom>
            <a:avLst/>
            <a:gdLst/>
            <a:ahLst/>
            <a:cxnLst/>
            <a:rect r="r" b="b" t="t" l="l"/>
            <a:pathLst>
              <a:path h="3490429" w="3982855">
                <a:moveTo>
                  <a:pt x="3982855" y="0"/>
                </a:moveTo>
                <a:lnTo>
                  <a:pt x="0" y="0"/>
                </a:lnTo>
                <a:lnTo>
                  <a:pt x="0" y="3490429"/>
                </a:lnTo>
                <a:lnTo>
                  <a:pt x="3982855" y="3490429"/>
                </a:lnTo>
                <a:lnTo>
                  <a:pt x="398285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522837" y="6142521"/>
            <a:ext cx="6387019" cy="1154853"/>
            <a:chOff x="0" y="0"/>
            <a:chExt cx="8516025" cy="153980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8312825" cy="1336605"/>
              <a:chOff x="0" y="0"/>
              <a:chExt cx="1642040" cy="26402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03200" y="203200"/>
              <a:ext cx="8312825" cy="1336605"/>
              <a:chOff x="0" y="0"/>
              <a:chExt cx="1642040" cy="26402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38100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2522837" y="7478349"/>
            <a:ext cx="6387019" cy="1154853"/>
            <a:chOff x="0" y="0"/>
            <a:chExt cx="8516025" cy="1539805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8312825" cy="1336605"/>
              <a:chOff x="0" y="0"/>
              <a:chExt cx="1642040" cy="26402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203200" y="203200"/>
              <a:ext cx="8312825" cy="1336605"/>
              <a:chOff x="0" y="0"/>
              <a:chExt cx="1642040" cy="26402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38100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</p:grpSp>
      <p:sp>
        <p:nvSpPr>
          <p:cNvPr name="Freeform 35" id="35"/>
          <p:cNvSpPr/>
          <p:nvPr/>
        </p:nvSpPr>
        <p:spPr>
          <a:xfrm flipH="false" flipV="false" rot="0">
            <a:off x="13319996" y="2603413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0"/>
                </a:moveTo>
                <a:lnTo>
                  <a:pt x="3939304" y="0"/>
                </a:lnTo>
                <a:lnTo>
                  <a:pt x="3939304" y="3576660"/>
                </a:lnTo>
                <a:lnTo>
                  <a:pt x="0" y="3576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9378144" y="3472728"/>
            <a:ext cx="6387019" cy="1154853"/>
            <a:chOff x="0" y="0"/>
            <a:chExt cx="8516025" cy="1539805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8312825" cy="1336605"/>
              <a:chOff x="0" y="0"/>
              <a:chExt cx="1642040" cy="264021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203200" y="203200"/>
              <a:ext cx="8312825" cy="1336605"/>
              <a:chOff x="0" y="0"/>
              <a:chExt cx="1642040" cy="264021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38100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0">
            <a:off x="9378144" y="4804829"/>
            <a:ext cx="6387019" cy="1154853"/>
            <a:chOff x="0" y="0"/>
            <a:chExt cx="8516025" cy="1539805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8312825" cy="1336605"/>
              <a:chOff x="0" y="0"/>
              <a:chExt cx="1642040" cy="264021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203200" y="203200"/>
              <a:ext cx="8312825" cy="1336605"/>
              <a:chOff x="0" y="0"/>
              <a:chExt cx="1642040" cy="26402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38100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</p:grpSp>
      <p:grpSp>
        <p:nvGrpSpPr>
          <p:cNvPr name="Group 50" id="50"/>
          <p:cNvGrpSpPr/>
          <p:nvPr/>
        </p:nvGrpSpPr>
        <p:grpSpPr>
          <a:xfrm rot="0">
            <a:off x="9378144" y="6140657"/>
            <a:ext cx="6387019" cy="1154853"/>
            <a:chOff x="0" y="0"/>
            <a:chExt cx="8516025" cy="1539805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8312825" cy="1336605"/>
              <a:chOff x="0" y="0"/>
              <a:chExt cx="1642040" cy="264021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203200" y="203200"/>
              <a:ext cx="8312825" cy="1336605"/>
              <a:chOff x="0" y="0"/>
              <a:chExt cx="1642040" cy="264021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38100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</p:grpSp>
      <p:sp>
        <p:nvSpPr>
          <p:cNvPr name="TextBox 57" id="57"/>
          <p:cNvSpPr txBox="true"/>
          <p:nvPr/>
        </p:nvSpPr>
        <p:spPr>
          <a:xfrm rot="0">
            <a:off x="5439269" y="1746115"/>
            <a:ext cx="7409461" cy="137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92"/>
              </a:lnSpc>
            </a:pPr>
            <a:r>
              <a:rPr lang="en-US" sz="9992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ARSITEKTUR SISTEM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593876" y="3712293"/>
            <a:ext cx="4244941" cy="67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6"/>
              </a:lnSpc>
            </a:pPr>
            <a:r>
              <a:rPr lang="en-US" sz="3997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Frontend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298312" y="5086645"/>
            <a:ext cx="4836069" cy="67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6"/>
              </a:lnSpc>
            </a:pPr>
            <a:r>
              <a:rPr lang="en-US" sz="3997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Backend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593876" y="6418746"/>
            <a:ext cx="4244941" cy="67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6"/>
              </a:lnSpc>
            </a:pPr>
            <a:r>
              <a:rPr lang="en-US" sz="3997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ChromaDB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593876" y="7754574"/>
            <a:ext cx="4244941" cy="67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6"/>
              </a:lnSpc>
            </a:pPr>
            <a:r>
              <a:rPr lang="en-US" sz="3997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LLM Engine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255705" y="3712293"/>
            <a:ext cx="4751230" cy="67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6"/>
              </a:lnSpc>
            </a:pPr>
            <a:r>
              <a:rPr lang="en-US" sz="3997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Integrasi Sistem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508850" y="5086645"/>
            <a:ext cx="4244941" cy="67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6"/>
              </a:lnSpc>
            </a:pPr>
            <a:r>
              <a:rPr lang="en-US" sz="3997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Alur Data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8700" y="558511"/>
            <a:ext cx="4950397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Dokumentasi RAG-Chatbot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379121" y="523875"/>
            <a:ext cx="4880179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Arsitektur Sistem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31905" y="8988216"/>
            <a:ext cx="11219657" cy="1798387"/>
            <a:chOff x="0" y="0"/>
            <a:chExt cx="14959543" cy="239785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33500" y="3860664"/>
            <a:ext cx="13250966" cy="31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371" indent="-269685" lvl="1">
              <a:lnSpc>
                <a:spcPts val="3622"/>
              </a:lnSpc>
              <a:buAutoNum type="arabicPeriod" startAt="1"/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User input pertanyaan melalui frontend</a:t>
            </a:r>
          </a:p>
          <a:p>
            <a:pPr algn="just" marL="539371" indent="-269685" lvl="1">
              <a:lnSpc>
                <a:spcPts val="3622"/>
              </a:lnSpc>
              <a:buAutoNum type="arabicPeriod" startAt="1"/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Backend terima kueri &amp; parallel vector search</a:t>
            </a:r>
          </a:p>
          <a:p>
            <a:pPr algn="just" marL="539371" indent="-269685" lvl="1">
              <a:lnSpc>
                <a:spcPts val="3622"/>
              </a:lnSpc>
              <a:buAutoNum type="arabicPeriod" startAt="1"/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Router model klasifikasi topik pertanyaan</a:t>
            </a:r>
          </a:p>
          <a:p>
            <a:pPr algn="just" marL="539371" indent="-269685" lvl="1">
              <a:lnSpc>
                <a:spcPts val="3622"/>
              </a:lnSpc>
              <a:buAutoNum type="arabicPeriod" startAt="1"/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Mendapatkan Top-K dokumen relevan</a:t>
            </a:r>
          </a:p>
          <a:p>
            <a:pPr algn="just" marL="539371" indent="-269685" lvl="1">
              <a:lnSpc>
                <a:spcPts val="3622"/>
              </a:lnSpc>
              <a:buAutoNum type="arabicPeriod" startAt="1"/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Kirim ke model Specialist atau Generalist sesuai topik dan susun prompt sesuai dengan model yang terpilih </a:t>
            </a:r>
          </a:p>
          <a:p>
            <a:pPr algn="just" marL="539371" indent="-269685" lvl="1">
              <a:lnSpc>
                <a:spcPts val="3622"/>
              </a:lnSpc>
              <a:buAutoNum type="arabicPeriod" startAt="1"/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Streaming respons real-time ke user menggunakan SSE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39269" y="1746115"/>
            <a:ext cx="7409461" cy="137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92"/>
              </a:lnSpc>
            </a:pPr>
            <a:r>
              <a:rPr lang="en-US" sz="9992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ALUR ENDPOINT CHAT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201150"/>
            <a:ext cx="2310956" cy="43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22"/>
              </a:lnSpc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Halaman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58511"/>
            <a:ext cx="4950397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Dokumentasi RAG-Chatbot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79121" y="523875"/>
            <a:ext cx="4880179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Alur Data Chat</a:t>
            </a:r>
          </a:p>
        </p:txBody>
      </p:sp>
      <p:sp>
        <p:nvSpPr>
          <p:cNvPr name="Freeform 11" id="11"/>
          <p:cNvSpPr/>
          <p:nvPr/>
        </p:nvSpPr>
        <p:spPr>
          <a:xfrm flipH="false" flipV="true" rot="0">
            <a:off x="15941734" y="2358866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3576661"/>
                </a:moveTo>
                <a:lnTo>
                  <a:pt x="3939304" y="3576661"/>
                </a:lnTo>
                <a:lnTo>
                  <a:pt x="3939304" y="0"/>
                </a:lnTo>
                <a:lnTo>
                  <a:pt x="0" y="0"/>
                </a:lnTo>
                <a:lnTo>
                  <a:pt x="0" y="357666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31905" y="8988216"/>
            <a:ext cx="11219657" cy="1798387"/>
            <a:chOff x="0" y="0"/>
            <a:chExt cx="14959543" cy="239785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33500" y="3860664"/>
            <a:ext cx="9487416" cy="40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22"/>
              </a:lnSpc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Proses upload dan pemrosesan dokumen melalui endpoint upload:</a:t>
            </a:r>
          </a:p>
          <a:p>
            <a:pPr algn="just" marL="539371" indent="-269685" lvl="1">
              <a:lnSpc>
                <a:spcPts val="3622"/>
              </a:lnSpc>
              <a:buAutoNum type="arabicPeriod" startAt="1"/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User upload file PDF/TXT melalui frontend</a:t>
            </a:r>
          </a:p>
          <a:p>
            <a:pPr algn="just" marL="539371" indent="-269685" lvl="1">
              <a:lnSpc>
                <a:spcPts val="3622"/>
              </a:lnSpc>
              <a:buAutoNum type="arabicPeriod" startAt="1"/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Backend validasi ekstensi file (.txt, .pdf)</a:t>
            </a:r>
          </a:p>
          <a:p>
            <a:pPr algn="just" marL="539371" indent="-269685" lvl="1">
              <a:lnSpc>
                <a:spcPts val="3622"/>
              </a:lnSpc>
              <a:buAutoNum type="arabicPeriod" startAt="1"/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Parsing konten &amp; simpan ke disk lokal</a:t>
            </a:r>
          </a:p>
          <a:p>
            <a:pPr algn="just" marL="539371" indent="-269685" lvl="1">
              <a:lnSpc>
                <a:spcPts val="3622"/>
              </a:lnSpc>
              <a:buAutoNum type="arabicPeriod" startAt="1"/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Recursive chunking konten dokumen</a:t>
            </a:r>
          </a:p>
          <a:p>
            <a:pPr algn="just" marL="539371" indent="-269685" lvl="1">
              <a:lnSpc>
                <a:spcPts val="3622"/>
              </a:lnSpc>
              <a:buAutoNum type="arabicPeriod" startAt="1"/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Embedding dengan all-MiniLM-L6-v2</a:t>
            </a:r>
          </a:p>
          <a:p>
            <a:pPr algn="just" marL="539371" indent="-269685" lvl="1">
              <a:lnSpc>
                <a:spcPts val="3622"/>
              </a:lnSpc>
              <a:buAutoNum type="arabicPeriod" startAt="1"/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Simpan vektor ke ChromaDB &amp; kembalikan status, jumlah chunk dan isi file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39269" y="1698490"/>
            <a:ext cx="7409461" cy="104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09"/>
              </a:lnSpc>
            </a:pPr>
            <a:r>
              <a:rPr lang="en-US" sz="7532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ALUR ENDPOINT UPLOAD FILE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201150"/>
            <a:ext cx="2310956" cy="43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22"/>
              </a:lnSpc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Halaman 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58511"/>
            <a:ext cx="4950397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Dokumentasi RAG-Chatbot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79121" y="523875"/>
            <a:ext cx="4880179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Pipeline Upload</a:t>
            </a:r>
          </a:p>
        </p:txBody>
      </p:sp>
      <p:sp>
        <p:nvSpPr>
          <p:cNvPr name="Freeform 11" id="11"/>
          <p:cNvSpPr/>
          <p:nvPr/>
        </p:nvSpPr>
        <p:spPr>
          <a:xfrm flipH="false" flipV="true" rot="0">
            <a:off x="15941734" y="2358866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3576661"/>
                </a:moveTo>
                <a:lnTo>
                  <a:pt x="3939304" y="3576661"/>
                </a:lnTo>
                <a:lnTo>
                  <a:pt x="3939304" y="0"/>
                </a:lnTo>
                <a:lnTo>
                  <a:pt x="0" y="0"/>
                </a:lnTo>
                <a:lnTo>
                  <a:pt x="0" y="357666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408883" y="5209027"/>
            <a:ext cx="3982855" cy="3490429"/>
          </a:xfrm>
          <a:custGeom>
            <a:avLst/>
            <a:gdLst/>
            <a:ahLst/>
            <a:cxnLst/>
            <a:rect r="r" b="b" t="t" l="l"/>
            <a:pathLst>
              <a:path h="3490429" w="3982855">
                <a:moveTo>
                  <a:pt x="0" y="0"/>
                </a:moveTo>
                <a:lnTo>
                  <a:pt x="3982855" y="0"/>
                </a:lnTo>
                <a:lnTo>
                  <a:pt x="3982855" y="3490430"/>
                </a:lnTo>
                <a:lnTo>
                  <a:pt x="0" y="349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31905" y="8988216"/>
            <a:ext cx="11219657" cy="1798387"/>
            <a:chOff x="0" y="0"/>
            <a:chExt cx="14959543" cy="2397850"/>
          </a:xfrm>
        </p:grpSpPr>
        <p:sp>
          <p:nvSpPr>
            <p:cNvPr name="Freeform 4" id="4"/>
            <p:cNvSpPr/>
            <p:nvPr/>
          </p:nvSpPr>
          <p:spPr>
            <a:xfrm flipH="fals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588450" y="3567518"/>
            <a:ext cx="5111099" cy="4970895"/>
          </a:xfrm>
          <a:custGeom>
            <a:avLst/>
            <a:gdLst/>
            <a:ahLst/>
            <a:cxnLst/>
            <a:rect r="r" b="b" t="t" l="l"/>
            <a:pathLst>
              <a:path h="4970895" w="5111099">
                <a:moveTo>
                  <a:pt x="0" y="0"/>
                </a:moveTo>
                <a:lnTo>
                  <a:pt x="5111100" y="0"/>
                </a:lnTo>
                <a:lnTo>
                  <a:pt x="5111100" y="4970894"/>
                </a:lnTo>
                <a:lnTo>
                  <a:pt x="0" y="4970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439269" y="1708015"/>
            <a:ext cx="7409461" cy="93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94"/>
              </a:lnSpc>
            </a:pPr>
            <a:r>
              <a:rPr lang="en-US" sz="6852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PIPELINE RAG - FASE INGESTION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00316" y="4209094"/>
            <a:ext cx="1683798" cy="1235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2"/>
              </a:lnSpc>
            </a:pPr>
            <a:r>
              <a:rPr lang="en-US" b="true" sz="6995" i="true">
                <a:solidFill>
                  <a:srgbClr val="FFFFFF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00316" y="6543875"/>
            <a:ext cx="1683798" cy="1235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2"/>
              </a:lnSpc>
            </a:pPr>
            <a:r>
              <a:rPr lang="en-US" b="true" sz="6995" i="true">
                <a:solidFill>
                  <a:srgbClr val="FFFFFF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00311" y="5352300"/>
            <a:ext cx="1683798" cy="122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2"/>
              </a:lnSpc>
            </a:pPr>
            <a:r>
              <a:rPr lang="en-US" b="true" sz="6995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9225" y="4182909"/>
            <a:ext cx="4618847" cy="106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97"/>
              </a:lnSpc>
            </a:pPr>
            <a:r>
              <a:rPr lang="en-US" sz="19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Upload dokumen PDF ke sistem. Validasi format file dan simpan ke disk lokal untuk pemrosesan selanjutnya.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9225" y="6905591"/>
            <a:ext cx="4618847" cy="142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97"/>
              </a:lnSpc>
            </a:pPr>
            <a:r>
              <a:rPr lang="en-US" sz="19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Ekstraksi teks menggunakan pdfminer.six. Konten dokumen diubah menjadi teks mentah yang siap diproses.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13900" y="5410400"/>
            <a:ext cx="4618847" cy="142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97"/>
              </a:lnSpc>
            </a:pPr>
            <a:r>
              <a:rPr lang="en-US" sz="19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Chunking teks menggunakan teknik recursive chunking, embedding dengan all-MiniLM-L6-v2, lalu simpan vektor dan metadata ke ChromaDB.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9201150"/>
            <a:ext cx="2310956" cy="43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22"/>
              </a:lnSpc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Halaman 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58511"/>
            <a:ext cx="4950397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</a:pPr>
            <a:r>
              <a:rPr lang="en-US" sz="2997" spc="224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RAG-Chatbot Docs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79121" y="523875"/>
            <a:ext cx="4880179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197"/>
              </a:lnSpc>
            </a:pPr>
            <a:r>
              <a:rPr lang="en-US" sz="2997" spc="224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Fase Ingestion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55254" y="6167284"/>
            <a:ext cx="4618847" cy="683961"/>
            <a:chOff x="0" y="0"/>
            <a:chExt cx="6158462" cy="91194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076435" y="0"/>
              <a:ext cx="515116" cy="450726"/>
              <a:chOff x="0" y="0"/>
              <a:chExt cx="812800" cy="7112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D6F7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0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0"/>
                  </a:moveTo>
                  <a:lnTo>
                    <a:pt x="1412450" y="0"/>
                  </a:lnTo>
                  <a:lnTo>
                    <a:pt x="1412450" y="709084"/>
                  </a:lnTo>
                  <a:lnTo>
                    <a:pt x="0" y="709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0">
              <a:off x="630025" y="202863"/>
              <a:ext cx="4822212" cy="709084"/>
              <a:chOff x="0" y="0"/>
              <a:chExt cx="952536" cy="14006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52536" cy="140066"/>
              </a:xfrm>
              <a:custGeom>
                <a:avLst/>
                <a:gdLst/>
                <a:ahLst/>
                <a:cxnLst/>
                <a:rect r="r" b="b" t="t" l="l"/>
                <a:pathLst>
                  <a:path h="140066" w="952536">
                    <a:moveTo>
                      <a:pt x="0" y="0"/>
                    </a:moveTo>
                    <a:lnTo>
                      <a:pt x="952536" y="0"/>
                    </a:lnTo>
                    <a:lnTo>
                      <a:pt x="952536" y="140066"/>
                    </a:lnTo>
                    <a:lnTo>
                      <a:pt x="0" y="140066"/>
                    </a:ln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952536" cy="1972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true" rot="0">
              <a:off x="4746012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709084"/>
                  </a:moveTo>
                  <a:lnTo>
                    <a:pt x="1412450" y="709084"/>
                  </a:lnTo>
                  <a:lnTo>
                    <a:pt x="1412450" y="0"/>
                  </a:lnTo>
                  <a:lnTo>
                    <a:pt x="0" y="0"/>
                  </a:lnTo>
                  <a:lnTo>
                    <a:pt x="0" y="709084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23677" y="0"/>
              <a:ext cx="1110316" cy="557405"/>
            </a:xfrm>
            <a:custGeom>
              <a:avLst/>
              <a:gdLst/>
              <a:ahLst/>
              <a:cxnLst/>
              <a:rect r="r" b="b" t="t" l="l"/>
              <a:pathLst>
                <a:path h="557405" w="1110316">
                  <a:moveTo>
                    <a:pt x="0" y="0"/>
                  </a:moveTo>
                  <a:lnTo>
                    <a:pt x="1110316" y="0"/>
                  </a:lnTo>
                  <a:lnTo>
                    <a:pt x="1110316" y="557405"/>
                  </a:lnTo>
                  <a:lnTo>
                    <a:pt x="0" y="557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637365" y="6336894"/>
            <a:ext cx="3238066" cy="4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Ekstraksi Teks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419225" y="3441798"/>
            <a:ext cx="4618847" cy="683961"/>
            <a:chOff x="0" y="0"/>
            <a:chExt cx="6158462" cy="911947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1076435" y="0"/>
              <a:ext cx="515116" cy="450726"/>
              <a:chOff x="0" y="0"/>
              <a:chExt cx="812800" cy="7112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D6F78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0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0"/>
                  </a:moveTo>
                  <a:lnTo>
                    <a:pt x="1412450" y="0"/>
                  </a:lnTo>
                  <a:lnTo>
                    <a:pt x="1412450" y="709084"/>
                  </a:lnTo>
                  <a:lnTo>
                    <a:pt x="0" y="709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4" id="34"/>
            <p:cNvGrpSpPr/>
            <p:nvPr/>
          </p:nvGrpSpPr>
          <p:grpSpPr>
            <a:xfrm rot="0">
              <a:off x="630025" y="202863"/>
              <a:ext cx="4822212" cy="709084"/>
              <a:chOff x="0" y="0"/>
              <a:chExt cx="952536" cy="14006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52536" cy="140066"/>
              </a:xfrm>
              <a:custGeom>
                <a:avLst/>
                <a:gdLst/>
                <a:ahLst/>
                <a:cxnLst/>
                <a:rect r="r" b="b" t="t" l="l"/>
                <a:pathLst>
                  <a:path h="140066" w="952536">
                    <a:moveTo>
                      <a:pt x="0" y="0"/>
                    </a:moveTo>
                    <a:lnTo>
                      <a:pt x="952536" y="0"/>
                    </a:lnTo>
                    <a:lnTo>
                      <a:pt x="952536" y="140066"/>
                    </a:lnTo>
                    <a:lnTo>
                      <a:pt x="0" y="140066"/>
                    </a:ln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952536" cy="1972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true" rot="0">
              <a:off x="4746012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709084"/>
                  </a:moveTo>
                  <a:lnTo>
                    <a:pt x="1412450" y="709084"/>
                  </a:lnTo>
                  <a:lnTo>
                    <a:pt x="1412450" y="0"/>
                  </a:lnTo>
                  <a:lnTo>
                    <a:pt x="0" y="0"/>
                  </a:lnTo>
                  <a:lnTo>
                    <a:pt x="0" y="709084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23677" y="0"/>
              <a:ext cx="1110316" cy="557405"/>
            </a:xfrm>
            <a:custGeom>
              <a:avLst/>
              <a:gdLst/>
              <a:ahLst/>
              <a:cxnLst/>
              <a:rect r="r" b="b" t="t" l="l"/>
              <a:pathLst>
                <a:path h="557405" w="1110316">
                  <a:moveTo>
                    <a:pt x="0" y="0"/>
                  </a:moveTo>
                  <a:lnTo>
                    <a:pt x="1110316" y="0"/>
                  </a:lnTo>
                  <a:lnTo>
                    <a:pt x="1110316" y="557405"/>
                  </a:lnTo>
                  <a:lnTo>
                    <a:pt x="0" y="557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2601337" y="3611409"/>
            <a:ext cx="3238066" cy="4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Upload Dokumen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3319996" y="1546048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0"/>
                </a:moveTo>
                <a:lnTo>
                  <a:pt x="3939304" y="0"/>
                </a:lnTo>
                <a:lnTo>
                  <a:pt x="3939304" y="3576661"/>
                </a:lnTo>
                <a:lnTo>
                  <a:pt x="0" y="35766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2213900" y="4567779"/>
            <a:ext cx="4618847" cy="683961"/>
            <a:chOff x="0" y="0"/>
            <a:chExt cx="6158462" cy="911947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1076435" y="0"/>
              <a:ext cx="515116" cy="450726"/>
              <a:chOff x="0" y="0"/>
              <a:chExt cx="812800" cy="7112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D6F78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0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0"/>
                  </a:moveTo>
                  <a:lnTo>
                    <a:pt x="1412450" y="0"/>
                  </a:lnTo>
                  <a:lnTo>
                    <a:pt x="1412450" y="709084"/>
                  </a:lnTo>
                  <a:lnTo>
                    <a:pt x="0" y="709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6" id="46"/>
            <p:cNvGrpSpPr/>
            <p:nvPr/>
          </p:nvGrpSpPr>
          <p:grpSpPr>
            <a:xfrm rot="0">
              <a:off x="630025" y="202863"/>
              <a:ext cx="4822212" cy="709084"/>
              <a:chOff x="0" y="0"/>
              <a:chExt cx="952536" cy="140066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952536" cy="140066"/>
              </a:xfrm>
              <a:custGeom>
                <a:avLst/>
                <a:gdLst/>
                <a:ahLst/>
                <a:cxnLst/>
                <a:rect r="r" b="b" t="t" l="l"/>
                <a:pathLst>
                  <a:path h="140066" w="952536">
                    <a:moveTo>
                      <a:pt x="0" y="0"/>
                    </a:moveTo>
                    <a:lnTo>
                      <a:pt x="952536" y="0"/>
                    </a:lnTo>
                    <a:lnTo>
                      <a:pt x="952536" y="140066"/>
                    </a:lnTo>
                    <a:lnTo>
                      <a:pt x="0" y="140066"/>
                    </a:ln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57150"/>
                <a:ext cx="952536" cy="1972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49" id="49"/>
            <p:cNvSpPr/>
            <p:nvPr/>
          </p:nvSpPr>
          <p:spPr>
            <a:xfrm flipH="false" flipV="true" rot="0">
              <a:off x="4746012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709084"/>
                  </a:moveTo>
                  <a:lnTo>
                    <a:pt x="1412450" y="709084"/>
                  </a:lnTo>
                  <a:lnTo>
                    <a:pt x="1412450" y="0"/>
                  </a:lnTo>
                  <a:lnTo>
                    <a:pt x="0" y="0"/>
                  </a:lnTo>
                  <a:lnTo>
                    <a:pt x="0" y="709084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23677" y="0"/>
              <a:ext cx="1110316" cy="557405"/>
            </a:xfrm>
            <a:custGeom>
              <a:avLst/>
              <a:gdLst/>
              <a:ahLst/>
              <a:cxnLst/>
              <a:rect r="r" b="b" t="t" l="l"/>
              <a:pathLst>
                <a:path h="557405" w="1110316">
                  <a:moveTo>
                    <a:pt x="0" y="0"/>
                  </a:moveTo>
                  <a:lnTo>
                    <a:pt x="1110316" y="0"/>
                  </a:lnTo>
                  <a:lnTo>
                    <a:pt x="1110316" y="557405"/>
                  </a:lnTo>
                  <a:lnTo>
                    <a:pt x="0" y="557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3396011" y="4737390"/>
            <a:ext cx="3238066" cy="4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Embed &amp; Simpan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408883" y="5209027"/>
            <a:ext cx="3982855" cy="3490429"/>
          </a:xfrm>
          <a:custGeom>
            <a:avLst/>
            <a:gdLst/>
            <a:ahLst/>
            <a:cxnLst/>
            <a:rect r="r" b="b" t="t" l="l"/>
            <a:pathLst>
              <a:path h="3490429" w="3982855">
                <a:moveTo>
                  <a:pt x="0" y="0"/>
                </a:moveTo>
                <a:lnTo>
                  <a:pt x="3982855" y="0"/>
                </a:lnTo>
                <a:lnTo>
                  <a:pt x="3982855" y="3490430"/>
                </a:lnTo>
                <a:lnTo>
                  <a:pt x="0" y="349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31905" y="8988216"/>
            <a:ext cx="11219657" cy="1798387"/>
            <a:chOff x="0" y="0"/>
            <a:chExt cx="14959543" cy="2397850"/>
          </a:xfrm>
        </p:grpSpPr>
        <p:sp>
          <p:nvSpPr>
            <p:cNvPr name="Freeform 4" id="4"/>
            <p:cNvSpPr/>
            <p:nvPr/>
          </p:nvSpPr>
          <p:spPr>
            <a:xfrm flipH="fals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588450" y="3567518"/>
            <a:ext cx="5111099" cy="4970895"/>
          </a:xfrm>
          <a:custGeom>
            <a:avLst/>
            <a:gdLst/>
            <a:ahLst/>
            <a:cxnLst/>
            <a:rect r="r" b="b" t="t" l="l"/>
            <a:pathLst>
              <a:path h="4970895" w="5111099">
                <a:moveTo>
                  <a:pt x="0" y="0"/>
                </a:moveTo>
                <a:lnTo>
                  <a:pt x="5111100" y="0"/>
                </a:lnTo>
                <a:lnTo>
                  <a:pt x="5111100" y="4970894"/>
                </a:lnTo>
                <a:lnTo>
                  <a:pt x="0" y="4970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439269" y="1669915"/>
            <a:ext cx="7409461" cy="144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1"/>
              </a:lnSpc>
            </a:pPr>
            <a:r>
              <a:rPr lang="en-US" sz="5334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PIPELINE RAG - FASE RETRIEVAL &amp; GENERATION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00316" y="4218619"/>
            <a:ext cx="1683798" cy="109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20"/>
              </a:lnSpc>
            </a:pPr>
            <a:r>
              <a:rPr lang="en-US" b="true" sz="6152" i="true">
                <a:solidFill>
                  <a:srgbClr val="FFFFFF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00316" y="6553400"/>
            <a:ext cx="1683798" cy="109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20"/>
              </a:lnSpc>
            </a:pPr>
            <a:r>
              <a:rPr lang="en-US" b="true" sz="6152" i="true">
                <a:solidFill>
                  <a:srgbClr val="FFFFFF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00311" y="5361825"/>
            <a:ext cx="1683798" cy="108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20"/>
              </a:lnSpc>
            </a:pPr>
            <a:r>
              <a:rPr lang="en-US" b="true" sz="6152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9225" y="4182909"/>
            <a:ext cx="4618847" cy="142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97"/>
              </a:lnSpc>
            </a:pPr>
            <a:r>
              <a:rPr lang="en-US" sz="19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Kueri user diubah menjadi vektor embedding menggunakan model all-MiniLM-L6-v2 untuk pencarian semantik.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9225" y="6905591"/>
            <a:ext cx="4618847" cy="142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97"/>
              </a:lnSpc>
            </a:pPr>
            <a:r>
              <a:rPr lang="en-US" sz="19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Pencarian Top-K chunks dari ChromaDB berdasarkan cosine similarity untuk menemukan konteks paling relevan.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13900" y="5410400"/>
            <a:ext cx="4618847" cy="142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97"/>
              </a:lnSpc>
            </a:pPr>
            <a:r>
              <a:rPr lang="en-US" sz="19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Chunks disisipkan ke prompt sebagai konteks, lalu LLM menghasilkan jawaban berdasarkan informasi tersebut.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9201150"/>
            <a:ext cx="2310956" cy="43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22"/>
              </a:lnSpc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Halaman 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58511"/>
            <a:ext cx="4950397" cy="44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1"/>
              </a:lnSpc>
            </a:pPr>
            <a:r>
              <a:rPr lang="en-US" sz="2636" spc="197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RAG-Chatbot Docs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79121" y="523875"/>
            <a:ext cx="4880179" cy="44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91"/>
              </a:lnSpc>
            </a:pPr>
            <a:r>
              <a:rPr lang="en-US" sz="2636" spc="197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Retrieval &amp; Generation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55254" y="6167284"/>
            <a:ext cx="4618847" cy="683961"/>
            <a:chOff x="0" y="0"/>
            <a:chExt cx="6158462" cy="91194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076435" y="0"/>
              <a:ext cx="515116" cy="450726"/>
              <a:chOff x="0" y="0"/>
              <a:chExt cx="812800" cy="7112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D6F7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0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0"/>
                  </a:moveTo>
                  <a:lnTo>
                    <a:pt x="1412450" y="0"/>
                  </a:lnTo>
                  <a:lnTo>
                    <a:pt x="1412450" y="709084"/>
                  </a:lnTo>
                  <a:lnTo>
                    <a:pt x="0" y="709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0">
              <a:off x="630025" y="202863"/>
              <a:ext cx="4822212" cy="709084"/>
              <a:chOff x="0" y="0"/>
              <a:chExt cx="952536" cy="14006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52536" cy="140066"/>
              </a:xfrm>
              <a:custGeom>
                <a:avLst/>
                <a:gdLst/>
                <a:ahLst/>
                <a:cxnLst/>
                <a:rect r="r" b="b" t="t" l="l"/>
                <a:pathLst>
                  <a:path h="140066" w="952536">
                    <a:moveTo>
                      <a:pt x="0" y="0"/>
                    </a:moveTo>
                    <a:lnTo>
                      <a:pt x="952536" y="0"/>
                    </a:lnTo>
                    <a:lnTo>
                      <a:pt x="952536" y="140066"/>
                    </a:lnTo>
                    <a:lnTo>
                      <a:pt x="0" y="140066"/>
                    </a:ln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952536" cy="1972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true" rot="0">
              <a:off x="4746012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709084"/>
                  </a:moveTo>
                  <a:lnTo>
                    <a:pt x="1412450" y="709084"/>
                  </a:lnTo>
                  <a:lnTo>
                    <a:pt x="1412450" y="0"/>
                  </a:lnTo>
                  <a:lnTo>
                    <a:pt x="0" y="0"/>
                  </a:lnTo>
                  <a:lnTo>
                    <a:pt x="0" y="709084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23677" y="0"/>
              <a:ext cx="1110316" cy="557405"/>
            </a:xfrm>
            <a:custGeom>
              <a:avLst/>
              <a:gdLst/>
              <a:ahLst/>
              <a:cxnLst/>
              <a:rect r="r" b="b" t="t" l="l"/>
              <a:pathLst>
                <a:path h="557405" w="1110316">
                  <a:moveTo>
                    <a:pt x="0" y="0"/>
                  </a:moveTo>
                  <a:lnTo>
                    <a:pt x="1110316" y="0"/>
                  </a:lnTo>
                  <a:lnTo>
                    <a:pt x="1110316" y="557405"/>
                  </a:lnTo>
                  <a:lnTo>
                    <a:pt x="0" y="557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637365" y="6346419"/>
            <a:ext cx="3238066" cy="363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6"/>
              </a:lnSpc>
            </a:pPr>
            <a:r>
              <a:rPr lang="en-US" b="true" sz="219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Top-K Similarity Search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419225" y="3441798"/>
            <a:ext cx="4618847" cy="683961"/>
            <a:chOff x="0" y="0"/>
            <a:chExt cx="6158462" cy="911947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1076435" y="0"/>
              <a:ext cx="515116" cy="450726"/>
              <a:chOff x="0" y="0"/>
              <a:chExt cx="812800" cy="7112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D6F78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0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0"/>
                  </a:moveTo>
                  <a:lnTo>
                    <a:pt x="1412450" y="0"/>
                  </a:lnTo>
                  <a:lnTo>
                    <a:pt x="1412450" y="709084"/>
                  </a:lnTo>
                  <a:lnTo>
                    <a:pt x="0" y="709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4" id="34"/>
            <p:cNvGrpSpPr/>
            <p:nvPr/>
          </p:nvGrpSpPr>
          <p:grpSpPr>
            <a:xfrm rot="0">
              <a:off x="630025" y="202863"/>
              <a:ext cx="4822212" cy="709084"/>
              <a:chOff x="0" y="0"/>
              <a:chExt cx="952536" cy="14006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52536" cy="140066"/>
              </a:xfrm>
              <a:custGeom>
                <a:avLst/>
                <a:gdLst/>
                <a:ahLst/>
                <a:cxnLst/>
                <a:rect r="r" b="b" t="t" l="l"/>
                <a:pathLst>
                  <a:path h="140066" w="952536">
                    <a:moveTo>
                      <a:pt x="0" y="0"/>
                    </a:moveTo>
                    <a:lnTo>
                      <a:pt x="952536" y="0"/>
                    </a:lnTo>
                    <a:lnTo>
                      <a:pt x="952536" y="140066"/>
                    </a:lnTo>
                    <a:lnTo>
                      <a:pt x="0" y="140066"/>
                    </a:ln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952536" cy="1972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true" rot="0">
              <a:off x="4746012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709084"/>
                  </a:moveTo>
                  <a:lnTo>
                    <a:pt x="1412450" y="709084"/>
                  </a:lnTo>
                  <a:lnTo>
                    <a:pt x="1412450" y="0"/>
                  </a:lnTo>
                  <a:lnTo>
                    <a:pt x="0" y="0"/>
                  </a:lnTo>
                  <a:lnTo>
                    <a:pt x="0" y="709084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23677" y="0"/>
              <a:ext cx="1110316" cy="557405"/>
            </a:xfrm>
            <a:custGeom>
              <a:avLst/>
              <a:gdLst/>
              <a:ahLst/>
              <a:cxnLst/>
              <a:rect r="r" b="b" t="t" l="l"/>
              <a:pathLst>
                <a:path h="557405" w="1110316">
                  <a:moveTo>
                    <a:pt x="0" y="0"/>
                  </a:moveTo>
                  <a:lnTo>
                    <a:pt x="1110316" y="0"/>
                  </a:lnTo>
                  <a:lnTo>
                    <a:pt x="1110316" y="557405"/>
                  </a:lnTo>
                  <a:lnTo>
                    <a:pt x="0" y="557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2601337" y="3620934"/>
            <a:ext cx="3238066" cy="363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6"/>
              </a:lnSpc>
            </a:pPr>
            <a:r>
              <a:rPr lang="en-US" b="true" sz="219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Query Embedding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3319996" y="1546048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0"/>
                </a:moveTo>
                <a:lnTo>
                  <a:pt x="3939304" y="0"/>
                </a:lnTo>
                <a:lnTo>
                  <a:pt x="3939304" y="3576661"/>
                </a:lnTo>
                <a:lnTo>
                  <a:pt x="0" y="35766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2213900" y="4567779"/>
            <a:ext cx="4618847" cy="683961"/>
            <a:chOff x="0" y="0"/>
            <a:chExt cx="6158462" cy="911947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1076435" y="0"/>
              <a:ext cx="515116" cy="450726"/>
              <a:chOff x="0" y="0"/>
              <a:chExt cx="812800" cy="7112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D6F78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0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0"/>
                  </a:moveTo>
                  <a:lnTo>
                    <a:pt x="1412450" y="0"/>
                  </a:lnTo>
                  <a:lnTo>
                    <a:pt x="1412450" y="709084"/>
                  </a:lnTo>
                  <a:lnTo>
                    <a:pt x="0" y="709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6" id="46"/>
            <p:cNvGrpSpPr/>
            <p:nvPr/>
          </p:nvGrpSpPr>
          <p:grpSpPr>
            <a:xfrm rot="0">
              <a:off x="630025" y="202863"/>
              <a:ext cx="4822212" cy="709084"/>
              <a:chOff x="0" y="0"/>
              <a:chExt cx="952536" cy="140066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952536" cy="140066"/>
              </a:xfrm>
              <a:custGeom>
                <a:avLst/>
                <a:gdLst/>
                <a:ahLst/>
                <a:cxnLst/>
                <a:rect r="r" b="b" t="t" l="l"/>
                <a:pathLst>
                  <a:path h="140066" w="952536">
                    <a:moveTo>
                      <a:pt x="0" y="0"/>
                    </a:moveTo>
                    <a:lnTo>
                      <a:pt x="952536" y="0"/>
                    </a:lnTo>
                    <a:lnTo>
                      <a:pt x="952536" y="140066"/>
                    </a:lnTo>
                    <a:lnTo>
                      <a:pt x="0" y="140066"/>
                    </a:ln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57150"/>
                <a:ext cx="952536" cy="1972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49" id="49"/>
            <p:cNvSpPr/>
            <p:nvPr/>
          </p:nvSpPr>
          <p:spPr>
            <a:xfrm flipH="false" flipV="true" rot="0">
              <a:off x="4746012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709084"/>
                  </a:moveTo>
                  <a:lnTo>
                    <a:pt x="1412450" y="709084"/>
                  </a:lnTo>
                  <a:lnTo>
                    <a:pt x="1412450" y="0"/>
                  </a:lnTo>
                  <a:lnTo>
                    <a:pt x="0" y="0"/>
                  </a:lnTo>
                  <a:lnTo>
                    <a:pt x="0" y="709084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23677" y="0"/>
              <a:ext cx="1110316" cy="557405"/>
            </a:xfrm>
            <a:custGeom>
              <a:avLst/>
              <a:gdLst/>
              <a:ahLst/>
              <a:cxnLst/>
              <a:rect r="r" b="b" t="t" l="l"/>
              <a:pathLst>
                <a:path h="557405" w="1110316">
                  <a:moveTo>
                    <a:pt x="0" y="0"/>
                  </a:moveTo>
                  <a:lnTo>
                    <a:pt x="1110316" y="0"/>
                  </a:lnTo>
                  <a:lnTo>
                    <a:pt x="1110316" y="557405"/>
                  </a:lnTo>
                  <a:lnTo>
                    <a:pt x="0" y="557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3396011" y="4746915"/>
            <a:ext cx="3238066" cy="363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6"/>
              </a:lnSpc>
            </a:pPr>
            <a:r>
              <a:rPr lang="en-US" b="true" sz="219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LLM Response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31905" y="8988216"/>
            <a:ext cx="11219657" cy="1798387"/>
            <a:chOff x="0" y="0"/>
            <a:chExt cx="14959543" cy="239785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22837" y="3474591"/>
            <a:ext cx="6387019" cy="1154853"/>
            <a:chOff x="0" y="0"/>
            <a:chExt cx="8516025" cy="153980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312825" cy="1336605"/>
              <a:chOff x="0" y="0"/>
              <a:chExt cx="1642040" cy="26402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03200" y="203200"/>
              <a:ext cx="8312825" cy="1336605"/>
              <a:chOff x="0" y="0"/>
              <a:chExt cx="1642040" cy="26402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38100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2522837" y="4806692"/>
            <a:ext cx="6387019" cy="1154853"/>
            <a:chOff x="0" y="0"/>
            <a:chExt cx="8516025" cy="153980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312825" cy="1336605"/>
              <a:chOff x="0" y="0"/>
              <a:chExt cx="1642040" cy="26402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03200" y="203200"/>
              <a:ext cx="8312825" cy="1336605"/>
              <a:chOff x="0" y="0"/>
              <a:chExt cx="1642040" cy="26402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38100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</p:grpSp>
      <p:sp>
        <p:nvSpPr>
          <p:cNvPr name="Freeform 20" id="20"/>
          <p:cNvSpPr/>
          <p:nvPr/>
        </p:nvSpPr>
        <p:spPr>
          <a:xfrm flipH="true" flipV="false" rot="0">
            <a:off x="0" y="6796571"/>
            <a:ext cx="3982855" cy="3490429"/>
          </a:xfrm>
          <a:custGeom>
            <a:avLst/>
            <a:gdLst/>
            <a:ahLst/>
            <a:cxnLst/>
            <a:rect r="r" b="b" t="t" l="l"/>
            <a:pathLst>
              <a:path h="3490429" w="3982855">
                <a:moveTo>
                  <a:pt x="3982855" y="0"/>
                </a:moveTo>
                <a:lnTo>
                  <a:pt x="0" y="0"/>
                </a:lnTo>
                <a:lnTo>
                  <a:pt x="0" y="3490429"/>
                </a:lnTo>
                <a:lnTo>
                  <a:pt x="3982855" y="3490429"/>
                </a:lnTo>
                <a:lnTo>
                  <a:pt x="398285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522837" y="6142521"/>
            <a:ext cx="6387019" cy="1154853"/>
            <a:chOff x="0" y="0"/>
            <a:chExt cx="8516025" cy="153980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8312825" cy="1336605"/>
              <a:chOff x="0" y="0"/>
              <a:chExt cx="1642040" cy="26402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03200" y="203200"/>
              <a:ext cx="8312825" cy="1336605"/>
              <a:chOff x="0" y="0"/>
              <a:chExt cx="1642040" cy="26402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38100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2522837" y="7478349"/>
            <a:ext cx="6387019" cy="1154853"/>
            <a:chOff x="0" y="0"/>
            <a:chExt cx="8516025" cy="1539805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8312825" cy="1336605"/>
              <a:chOff x="0" y="0"/>
              <a:chExt cx="1642040" cy="26402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203200" y="203200"/>
              <a:ext cx="8312825" cy="1336605"/>
              <a:chOff x="0" y="0"/>
              <a:chExt cx="1642040" cy="26402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38100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</p:grpSp>
      <p:sp>
        <p:nvSpPr>
          <p:cNvPr name="Freeform 35" id="35"/>
          <p:cNvSpPr/>
          <p:nvPr/>
        </p:nvSpPr>
        <p:spPr>
          <a:xfrm flipH="false" flipV="false" rot="0">
            <a:off x="13319996" y="2603413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0"/>
                </a:moveTo>
                <a:lnTo>
                  <a:pt x="3939304" y="0"/>
                </a:lnTo>
                <a:lnTo>
                  <a:pt x="3939304" y="3576660"/>
                </a:lnTo>
                <a:lnTo>
                  <a:pt x="0" y="3576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9378144" y="3472728"/>
            <a:ext cx="6387019" cy="1154853"/>
            <a:chOff x="0" y="0"/>
            <a:chExt cx="8516025" cy="1539805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8312825" cy="1336605"/>
              <a:chOff x="0" y="0"/>
              <a:chExt cx="1642040" cy="264021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203200" y="203200"/>
              <a:ext cx="8312825" cy="1336605"/>
              <a:chOff x="0" y="0"/>
              <a:chExt cx="1642040" cy="264021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38100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0">
            <a:off x="9378144" y="4804829"/>
            <a:ext cx="6387019" cy="1154853"/>
            <a:chOff x="0" y="0"/>
            <a:chExt cx="8516025" cy="1539805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8312825" cy="1336605"/>
              <a:chOff x="0" y="0"/>
              <a:chExt cx="1642040" cy="264021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203200" y="203200"/>
              <a:ext cx="8312825" cy="1336605"/>
              <a:chOff x="0" y="0"/>
              <a:chExt cx="1642040" cy="26402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38100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</p:grpSp>
      <p:grpSp>
        <p:nvGrpSpPr>
          <p:cNvPr name="Group 50" id="50"/>
          <p:cNvGrpSpPr/>
          <p:nvPr/>
        </p:nvGrpSpPr>
        <p:grpSpPr>
          <a:xfrm rot="0">
            <a:off x="9378144" y="6140657"/>
            <a:ext cx="6387019" cy="1154853"/>
            <a:chOff x="0" y="0"/>
            <a:chExt cx="8516025" cy="1539805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8312825" cy="1336605"/>
              <a:chOff x="0" y="0"/>
              <a:chExt cx="1642040" cy="264021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203200" y="203200"/>
              <a:ext cx="8312825" cy="1336605"/>
              <a:chOff x="0" y="0"/>
              <a:chExt cx="1642040" cy="264021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642040" cy="264021"/>
              </a:xfrm>
              <a:custGeom>
                <a:avLst/>
                <a:gdLst/>
                <a:ahLst/>
                <a:cxnLst/>
                <a:rect r="r" b="b" t="t" l="l"/>
                <a:pathLst>
                  <a:path h="264021" w="1642040">
                    <a:moveTo>
                      <a:pt x="37253" y="0"/>
                    </a:moveTo>
                    <a:lnTo>
                      <a:pt x="1604787" y="0"/>
                    </a:lnTo>
                    <a:cubicBezTo>
                      <a:pt x="1614667" y="0"/>
                      <a:pt x="1624142" y="3925"/>
                      <a:pt x="1631129" y="10911"/>
                    </a:cubicBezTo>
                    <a:cubicBezTo>
                      <a:pt x="1638115" y="17897"/>
                      <a:pt x="1642040" y="27373"/>
                      <a:pt x="1642040" y="37253"/>
                    </a:cubicBezTo>
                    <a:lnTo>
                      <a:pt x="1642040" y="226768"/>
                    </a:lnTo>
                    <a:cubicBezTo>
                      <a:pt x="1642040" y="236648"/>
                      <a:pt x="1638115" y="246123"/>
                      <a:pt x="1631129" y="253110"/>
                    </a:cubicBezTo>
                    <a:cubicBezTo>
                      <a:pt x="1624142" y="260096"/>
                      <a:pt x="1614667" y="264021"/>
                      <a:pt x="1604787" y="264021"/>
                    </a:cubicBezTo>
                    <a:lnTo>
                      <a:pt x="37253" y="264021"/>
                    </a:lnTo>
                    <a:cubicBezTo>
                      <a:pt x="27373" y="264021"/>
                      <a:pt x="17897" y="260096"/>
                      <a:pt x="10911" y="253110"/>
                    </a:cubicBezTo>
                    <a:cubicBezTo>
                      <a:pt x="3925" y="246123"/>
                      <a:pt x="0" y="236648"/>
                      <a:pt x="0" y="226768"/>
                    </a:cubicBezTo>
                    <a:lnTo>
                      <a:pt x="0" y="37253"/>
                    </a:lnTo>
                    <a:cubicBezTo>
                      <a:pt x="0" y="27373"/>
                      <a:pt x="3925" y="17897"/>
                      <a:pt x="10911" y="10911"/>
                    </a:cubicBezTo>
                    <a:cubicBezTo>
                      <a:pt x="17897" y="3925"/>
                      <a:pt x="27373" y="0"/>
                      <a:pt x="37253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38100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57150"/>
                <a:ext cx="1642040" cy="321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</p:grpSp>
      <p:sp>
        <p:nvSpPr>
          <p:cNvPr name="TextBox 57" id="57"/>
          <p:cNvSpPr txBox="true"/>
          <p:nvPr/>
        </p:nvSpPr>
        <p:spPr>
          <a:xfrm rot="0">
            <a:off x="5439269" y="1669915"/>
            <a:ext cx="7409461" cy="73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1"/>
              </a:lnSpc>
            </a:pPr>
            <a:r>
              <a:rPr lang="en-US" sz="5334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ALASAN PEMILIHAN MODEL &amp; TEKNOLOGI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593876" y="3721818"/>
            <a:ext cx="4244941" cy="62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</a:pPr>
            <a:r>
              <a:rPr lang="en-US" sz="366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FastAPI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298312" y="5096170"/>
            <a:ext cx="4836069" cy="62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</a:pPr>
            <a:r>
              <a:rPr lang="en-US" sz="366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React &amp; Vite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593876" y="6428271"/>
            <a:ext cx="4244941" cy="62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</a:pPr>
            <a:r>
              <a:rPr lang="en-US" sz="366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ChromaDB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593876" y="7764099"/>
            <a:ext cx="4244941" cy="62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</a:pPr>
            <a:r>
              <a:rPr lang="en-US" sz="366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Router Model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255705" y="3721818"/>
            <a:ext cx="4751230" cy="62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</a:pPr>
            <a:r>
              <a:rPr lang="en-US" sz="366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Specialist LLM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508850" y="5096170"/>
            <a:ext cx="4244941" cy="62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</a:pPr>
            <a:r>
              <a:rPr lang="en-US" sz="366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Generalist LLM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508850" y="6428271"/>
            <a:ext cx="4244941" cy="62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7"/>
              </a:lnSpc>
            </a:pPr>
            <a:r>
              <a:rPr lang="en-US" sz="366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MiniLM Embedding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28700" y="558511"/>
            <a:ext cx="4950397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</a:pPr>
            <a:r>
              <a:rPr lang="en-US" sz="2997" spc="224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RAG-Chatbot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379121" y="523875"/>
            <a:ext cx="4880179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197"/>
              </a:lnSpc>
            </a:pPr>
            <a:r>
              <a:rPr lang="en-US" sz="2997" spc="224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Dokumentasi Proyek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31905" y="8988216"/>
            <a:ext cx="11219657" cy="1798387"/>
            <a:chOff x="0" y="0"/>
            <a:chExt cx="14959543" cy="239785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439269" y="1698490"/>
            <a:ext cx="7409461" cy="97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9"/>
              </a:lnSpc>
            </a:pPr>
            <a:r>
              <a:rPr lang="en-US" sz="7009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CARA MENJALANKAN BACKEND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14526" y="2360477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0"/>
                </a:moveTo>
                <a:lnTo>
                  <a:pt x="3939304" y="0"/>
                </a:lnTo>
                <a:lnTo>
                  <a:pt x="3939304" y="3576661"/>
                </a:lnTo>
                <a:lnTo>
                  <a:pt x="0" y="35766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30745" y="3212964"/>
            <a:ext cx="4862123" cy="5571213"/>
            <a:chOff x="0" y="0"/>
            <a:chExt cx="6482831" cy="742828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52400" y="1616800"/>
              <a:ext cx="6330431" cy="5811484"/>
              <a:chOff x="0" y="0"/>
              <a:chExt cx="1250456" cy="114794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50456" cy="1147947"/>
              </a:xfrm>
              <a:custGeom>
                <a:avLst/>
                <a:gdLst/>
                <a:ahLst/>
                <a:cxnLst/>
                <a:rect r="r" b="b" t="t" l="l"/>
                <a:pathLst>
                  <a:path h="1147947" w="1250456">
                    <a:moveTo>
                      <a:pt x="83162" y="0"/>
                    </a:moveTo>
                    <a:lnTo>
                      <a:pt x="1167294" y="0"/>
                    </a:lnTo>
                    <a:cubicBezTo>
                      <a:pt x="1213223" y="0"/>
                      <a:pt x="1250456" y="37233"/>
                      <a:pt x="1250456" y="83162"/>
                    </a:cubicBezTo>
                    <a:lnTo>
                      <a:pt x="1250456" y="1064785"/>
                    </a:lnTo>
                    <a:cubicBezTo>
                      <a:pt x="1250456" y="1110715"/>
                      <a:pt x="1213223" y="1147947"/>
                      <a:pt x="1167294" y="1147947"/>
                    </a:cubicBezTo>
                    <a:lnTo>
                      <a:pt x="83162" y="1147947"/>
                    </a:lnTo>
                    <a:cubicBezTo>
                      <a:pt x="37233" y="1147947"/>
                      <a:pt x="0" y="1110715"/>
                      <a:pt x="0" y="1064785"/>
                    </a:cubicBezTo>
                    <a:lnTo>
                      <a:pt x="0" y="83162"/>
                    </a:lnTo>
                    <a:cubicBezTo>
                      <a:pt x="0" y="37233"/>
                      <a:pt x="37233" y="0"/>
                      <a:pt x="83162" y="0"/>
                    </a:cubicBezTo>
                    <a:close/>
                  </a:path>
                </a:pathLst>
              </a:custGeom>
              <a:solidFill>
                <a:srgbClr val="0D4F4E"/>
              </a:solidFill>
              <a:ln w="66675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1250456" cy="12050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1477100"/>
              <a:ext cx="6330431" cy="5811484"/>
              <a:chOff x="0" y="0"/>
              <a:chExt cx="1250456" cy="114794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50456" cy="1147947"/>
              </a:xfrm>
              <a:custGeom>
                <a:avLst/>
                <a:gdLst/>
                <a:ahLst/>
                <a:cxnLst/>
                <a:rect r="r" b="b" t="t" l="l"/>
                <a:pathLst>
                  <a:path h="1147947" w="1250456">
                    <a:moveTo>
                      <a:pt x="83162" y="0"/>
                    </a:moveTo>
                    <a:lnTo>
                      <a:pt x="1167294" y="0"/>
                    </a:lnTo>
                    <a:cubicBezTo>
                      <a:pt x="1213223" y="0"/>
                      <a:pt x="1250456" y="37233"/>
                      <a:pt x="1250456" y="83162"/>
                    </a:cubicBezTo>
                    <a:lnTo>
                      <a:pt x="1250456" y="1064785"/>
                    </a:lnTo>
                    <a:cubicBezTo>
                      <a:pt x="1250456" y="1110715"/>
                      <a:pt x="1213223" y="1147947"/>
                      <a:pt x="1167294" y="1147947"/>
                    </a:cubicBezTo>
                    <a:lnTo>
                      <a:pt x="83162" y="1147947"/>
                    </a:lnTo>
                    <a:cubicBezTo>
                      <a:pt x="37233" y="1147947"/>
                      <a:pt x="0" y="1110715"/>
                      <a:pt x="0" y="1064785"/>
                    </a:cubicBezTo>
                    <a:lnTo>
                      <a:pt x="0" y="83162"/>
                    </a:lnTo>
                    <a:cubicBezTo>
                      <a:pt x="0" y="37233"/>
                      <a:pt x="37233" y="0"/>
                      <a:pt x="83162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66675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1250456" cy="12050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084068" y="88900"/>
              <a:ext cx="2302435" cy="2302435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4F4E"/>
              </a:solidFill>
              <a:ln w="66675" cap="sq">
                <a:solidFill>
                  <a:srgbClr val="0D4F4E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013998" y="0"/>
              <a:ext cx="2302435" cy="2302435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66675" cap="sq">
                <a:solidFill>
                  <a:srgbClr val="0D4F4E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96721" y="2503472"/>
              <a:ext cx="5553936" cy="3608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622"/>
                </a:lnSpc>
              </a:pPr>
              <a:r>
                <a:rPr lang="en-US" sz="2498">
                  <a:solidFill>
                    <a:srgbClr val="0D4F4E"/>
                  </a:solidFill>
                  <a:latin typeface="Lora"/>
                  <a:ea typeface="Lora"/>
                  <a:cs typeface="Lora"/>
                  <a:sym typeface="Lora"/>
                </a:rPr>
                <a:t>Masuk direktori backend dengan perintah cd src/backend, lalu konfigurasi file .env untuk mengatur model LLM yang akan digunakan.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71368" y="280497"/>
              <a:ext cx="2245065" cy="1435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133"/>
                </a:lnSpc>
              </a:pPr>
              <a:r>
                <a:rPr lang="en-US" b="true" sz="6298" i="true">
                  <a:solidFill>
                    <a:srgbClr val="0D4F4E"/>
                  </a:solidFill>
                  <a:latin typeface="Lora Bold Italics"/>
                  <a:ea typeface="Lora Bold Italics"/>
                  <a:cs typeface="Lora Bold Italics"/>
                  <a:sym typeface="Lora Bold Italics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759699" y="3267359"/>
            <a:ext cx="4862123" cy="5571213"/>
            <a:chOff x="0" y="0"/>
            <a:chExt cx="6482831" cy="742828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152400" y="1616800"/>
              <a:ext cx="6330431" cy="5811484"/>
              <a:chOff x="0" y="0"/>
              <a:chExt cx="1250456" cy="114794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50456" cy="1147947"/>
              </a:xfrm>
              <a:custGeom>
                <a:avLst/>
                <a:gdLst/>
                <a:ahLst/>
                <a:cxnLst/>
                <a:rect r="r" b="b" t="t" l="l"/>
                <a:pathLst>
                  <a:path h="1147947" w="1250456">
                    <a:moveTo>
                      <a:pt x="83162" y="0"/>
                    </a:moveTo>
                    <a:lnTo>
                      <a:pt x="1167294" y="0"/>
                    </a:lnTo>
                    <a:cubicBezTo>
                      <a:pt x="1213223" y="0"/>
                      <a:pt x="1250456" y="37233"/>
                      <a:pt x="1250456" y="83162"/>
                    </a:cubicBezTo>
                    <a:lnTo>
                      <a:pt x="1250456" y="1064785"/>
                    </a:lnTo>
                    <a:cubicBezTo>
                      <a:pt x="1250456" y="1110715"/>
                      <a:pt x="1213223" y="1147947"/>
                      <a:pt x="1167294" y="1147947"/>
                    </a:cubicBezTo>
                    <a:lnTo>
                      <a:pt x="83162" y="1147947"/>
                    </a:lnTo>
                    <a:cubicBezTo>
                      <a:pt x="37233" y="1147947"/>
                      <a:pt x="0" y="1110715"/>
                      <a:pt x="0" y="1064785"/>
                    </a:cubicBezTo>
                    <a:lnTo>
                      <a:pt x="0" y="83162"/>
                    </a:lnTo>
                    <a:cubicBezTo>
                      <a:pt x="0" y="37233"/>
                      <a:pt x="37233" y="0"/>
                      <a:pt x="83162" y="0"/>
                    </a:cubicBezTo>
                    <a:close/>
                  </a:path>
                </a:pathLst>
              </a:custGeom>
              <a:solidFill>
                <a:srgbClr val="0D4F4E"/>
              </a:solidFill>
              <a:ln w="66675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1250456" cy="12050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1477100"/>
              <a:ext cx="6330431" cy="5811484"/>
              <a:chOff x="0" y="0"/>
              <a:chExt cx="1250456" cy="114794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250456" cy="1147947"/>
              </a:xfrm>
              <a:custGeom>
                <a:avLst/>
                <a:gdLst/>
                <a:ahLst/>
                <a:cxnLst/>
                <a:rect r="r" b="b" t="t" l="l"/>
                <a:pathLst>
                  <a:path h="1147947" w="1250456">
                    <a:moveTo>
                      <a:pt x="83162" y="0"/>
                    </a:moveTo>
                    <a:lnTo>
                      <a:pt x="1167294" y="0"/>
                    </a:lnTo>
                    <a:cubicBezTo>
                      <a:pt x="1213223" y="0"/>
                      <a:pt x="1250456" y="37233"/>
                      <a:pt x="1250456" y="83162"/>
                    </a:cubicBezTo>
                    <a:lnTo>
                      <a:pt x="1250456" y="1064785"/>
                    </a:lnTo>
                    <a:cubicBezTo>
                      <a:pt x="1250456" y="1110715"/>
                      <a:pt x="1213223" y="1147947"/>
                      <a:pt x="1167294" y="1147947"/>
                    </a:cubicBezTo>
                    <a:lnTo>
                      <a:pt x="83162" y="1147947"/>
                    </a:lnTo>
                    <a:cubicBezTo>
                      <a:pt x="37233" y="1147947"/>
                      <a:pt x="0" y="1110715"/>
                      <a:pt x="0" y="1064785"/>
                    </a:cubicBezTo>
                    <a:lnTo>
                      <a:pt x="0" y="83162"/>
                    </a:lnTo>
                    <a:cubicBezTo>
                      <a:pt x="0" y="37233"/>
                      <a:pt x="37233" y="0"/>
                      <a:pt x="83162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66675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1250456" cy="12050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084068" y="88900"/>
              <a:ext cx="2302435" cy="2302435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4F4E"/>
              </a:solidFill>
              <a:ln w="66675" cap="sq">
                <a:solidFill>
                  <a:srgbClr val="0D4F4E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013998" y="0"/>
              <a:ext cx="2302435" cy="2302435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66675" cap="sq">
                <a:solidFill>
                  <a:srgbClr val="0D4F4E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396721" y="2503472"/>
              <a:ext cx="5553936" cy="2999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622"/>
                </a:lnSpc>
              </a:pPr>
              <a:r>
                <a:rPr lang="en-US" sz="2498">
                  <a:solidFill>
                    <a:srgbClr val="0D4F4E"/>
                  </a:solidFill>
                  <a:latin typeface="Lora"/>
                  <a:ea typeface="Lora"/>
                  <a:cs typeface="Lora"/>
                  <a:sym typeface="Lora"/>
                </a:rPr>
                <a:t>Instal semua dependensi yang diperlukan dengan menjalankan perintah uv sync untuk menyiapkan environment Python.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071368" y="280497"/>
              <a:ext cx="2245065" cy="1435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133"/>
                </a:lnSpc>
              </a:pPr>
              <a:r>
                <a:rPr lang="en-US" b="true" sz="6298" i="true">
                  <a:solidFill>
                    <a:srgbClr val="0D4F4E"/>
                  </a:solidFill>
                  <a:latin typeface="Lora Bold Italics"/>
                  <a:ea typeface="Lora Bold Italics"/>
                  <a:cs typeface="Lora Bold Italics"/>
                  <a:sym typeface="Lora Bold Italics"/>
                </a:rPr>
                <a:t>02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5400000">
            <a:off x="14373501" y="3363927"/>
            <a:ext cx="3982855" cy="3490429"/>
          </a:xfrm>
          <a:custGeom>
            <a:avLst/>
            <a:gdLst/>
            <a:ahLst/>
            <a:cxnLst/>
            <a:rect r="r" b="b" t="t" l="l"/>
            <a:pathLst>
              <a:path h="3490429" w="3982855">
                <a:moveTo>
                  <a:pt x="0" y="0"/>
                </a:moveTo>
                <a:lnTo>
                  <a:pt x="3982855" y="0"/>
                </a:lnTo>
                <a:lnTo>
                  <a:pt x="3982855" y="3490429"/>
                </a:lnTo>
                <a:lnTo>
                  <a:pt x="0" y="34904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2188652" y="3321753"/>
            <a:ext cx="4862123" cy="5571213"/>
            <a:chOff x="0" y="0"/>
            <a:chExt cx="6482831" cy="7428284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152400" y="1616800"/>
              <a:ext cx="6330431" cy="5811484"/>
              <a:chOff x="0" y="0"/>
              <a:chExt cx="1250456" cy="114794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250456" cy="1147947"/>
              </a:xfrm>
              <a:custGeom>
                <a:avLst/>
                <a:gdLst/>
                <a:ahLst/>
                <a:cxnLst/>
                <a:rect r="r" b="b" t="t" l="l"/>
                <a:pathLst>
                  <a:path h="1147947" w="1250456">
                    <a:moveTo>
                      <a:pt x="83162" y="0"/>
                    </a:moveTo>
                    <a:lnTo>
                      <a:pt x="1167294" y="0"/>
                    </a:lnTo>
                    <a:cubicBezTo>
                      <a:pt x="1213223" y="0"/>
                      <a:pt x="1250456" y="37233"/>
                      <a:pt x="1250456" y="83162"/>
                    </a:cubicBezTo>
                    <a:lnTo>
                      <a:pt x="1250456" y="1064785"/>
                    </a:lnTo>
                    <a:cubicBezTo>
                      <a:pt x="1250456" y="1110715"/>
                      <a:pt x="1213223" y="1147947"/>
                      <a:pt x="1167294" y="1147947"/>
                    </a:cubicBezTo>
                    <a:lnTo>
                      <a:pt x="83162" y="1147947"/>
                    </a:lnTo>
                    <a:cubicBezTo>
                      <a:pt x="37233" y="1147947"/>
                      <a:pt x="0" y="1110715"/>
                      <a:pt x="0" y="1064785"/>
                    </a:cubicBezTo>
                    <a:lnTo>
                      <a:pt x="0" y="83162"/>
                    </a:lnTo>
                    <a:cubicBezTo>
                      <a:pt x="0" y="37233"/>
                      <a:pt x="37233" y="0"/>
                      <a:pt x="83162" y="0"/>
                    </a:cubicBezTo>
                    <a:close/>
                  </a:path>
                </a:pathLst>
              </a:custGeom>
              <a:solidFill>
                <a:srgbClr val="0D4F4E"/>
              </a:solidFill>
              <a:ln w="66675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57150"/>
                <a:ext cx="1250456" cy="12050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1477100"/>
              <a:ext cx="6330431" cy="5811484"/>
              <a:chOff x="0" y="0"/>
              <a:chExt cx="1250456" cy="114794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250456" cy="1147947"/>
              </a:xfrm>
              <a:custGeom>
                <a:avLst/>
                <a:gdLst/>
                <a:ahLst/>
                <a:cxnLst/>
                <a:rect r="r" b="b" t="t" l="l"/>
                <a:pathLst>
                  <a:path h="1147947" w="1250456">
                    <a:moveTo>
                      <a:pt x="83162" y="0"/>
                    </a:moveTo>
                    <a:lnTo>
                      <a:pt x="1167294" y="0"/>
                    </a:lnTo>
                    <a:cubicBezTo>
                      <a:pt x="1213223" y="0"/>
                      <a:pt x="1250456" y="37233"/>
                      <a:pt x="1250456" y="83162"/>
                    </a:cubicBezTo>
                    <a:lnTo>
                      <a:pt x="1250456" y="1064785"/>
                    </a:lnTo>
                    <a:cubicBezTo>
                      <a:pt x="1250456" y="1110715"/>
                      <a:pt x="1213223" y="1147947"/>
                      <a:pt x="1167294" y="1147947"/>
                    </a:cubicBezTo>
                    <a:lnTo>
                      <a:pt x="83162" y="1147947"/>
                    </a:lnTo>
                    <a:cubicBezTo>
                      <a:pt x="37233" y="1147947"/>
                      <a:pt x="0" y="1110715"/>
                      <a:pt x="0" y="1064785"/>
                    </a:cubicBezTo>
                    <a:lnTo>
                      <a:pt x="0" y="83162"/>
                    </a:lnTo>
                    <a:cubicBezTo>
                      <a:pt x="0" y="37233"/>
                      <a:pt x="37233" y="0"/>
                      <a:pt x="83162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66675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57150"/>
                <a:ext cx="1250456" cy="12050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2084068" y="88900"/>
              <a:ext cx="2302435" cy="2302435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4F4E"/>
              </a:solidFill>
              <a:ln w="66675" cap="sq">
                <a:solidFill>
                  <a:srgbClr val="0D4F4E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2013998" y="0"/>
              <a:ext cx="2302435" cy="2302435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66675" cap="sq">
                <a:solidFill>
                  <a:srgbClr val="0D4F4E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96721" y="2503472"/>
              <a:ext cx="5553936" cy="2999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622"/>
                </a:lnSpc>
              </a:pPr>
              <a:r>
                <a:rPr lang="en-US" sz="2498">
                  <a:solidFill>
                    <a:srgbClr val="0D4F4E"/>
                  </a:solidFill>
                  <a:latin typeface="Lora"/>
                  <a:ea typeface="Lora"/>
                  <a:cs typeface="Lora"/>
                  <a:sym typeface="Lora"/>
                </a:rPr>
                <a:t>Jalankan server FastAPI dengan salah satu perintah: fastapi dev main.py, uvicorn main:app --reload --port 8000, atau uv run fastapi.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071368" y="280497"/>
              <a:ext cx="2245065" cy="1435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133"/>
                </a:lnSpc>
              </a:pPr>
              <a:r>
                <a:rPr lang="en-US" b="true" sz="6298" i="true">
                  <a:solidFill>
                    <a:srgbClr val="0D4F4E"/>
                  </a:solidFill>
                  <a:latin typeface="Lora Bold Italics"/>
                  <a:ea typeface="Lora Bold Italics"/>
                  <a:cs typeface="Lora Bold Italics"/>
                  <a:sym typeface="Lora Bold Italics"/>
                </a:rPr>
                <a:t>03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28700" y="9201150"/>
            <a:ext cx="2310956" cy="43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22"/>
              </a:lnSpc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Halaman 08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558511"/>
            <a:ext cx="4950397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Dokumentasi RAG-Chatbot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379121" y="523875"/>
            <a:ext cx="4880179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Setup Backend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31905" y="8988216"/>
            <a:ext cx="11219657" cy="1798387"/>
            <a:chOff x="0" y="0"/>
            <a:chExt cx="14959543" cy="239785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439269" y="1698490"/>
            <a:ext cx="7409461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39"/>
              </a:lnSpc>
            </a:pPr>
            <a:r>
              <a:rPr lang="en-US" sz="6799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CARA MENJALANKAN FRONTEND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14526" y="2360477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0"/>
                </a:moveTo>
                <a:lnTo>
                  <a:pt x="3939304" y="0"/>
                </a:lnTo>
                <a:lnTo>
                  <a:pt x="3939304" y="3576661"/>
                </a:lnTo>
                <a:lnTo>
                  <a:pt x="0" y="35766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30745" y="3212964"/>
            <a:ext cx="4862123" cy="5571213"/>
            <a:chOff x="0" y="0"/>
            <a:chExt cx="6482831" cy="742828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52400" y="1616800"/>
              <a:ext cx="6330431" cy="5811484"/>
              <a:chOff x="0" y="0"/>
              <a:chExt cx="1250456" cy="114794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50456" cy="1147947"/>
              </a:xfrm>
              <a:custGeom>
                <a:avLst/>
                <a:gdLst/>
                <a:ahLst/>
                <a:cxnLst/>
                <a:rect r="r" b="b" t="t" l="l"/>
                <a:pathLst>
                  <a:path h="1147947" w="1250456">
                    <a:moveTo>
                      <a:pt x="83162" y="0"/>
                    </a:moveTo>
                    <a:lnTo>
                      <a:pt x="1167294" y="0"/>
                    </a:lnTo>
                    <a:cubicBezTo>
                      <a:pt x="1213223" y="0"/>
                      <a:pt x="1250456" y="37233"/>
                      <a:pt x="1250456" y="83162"/>
                    </a:cubicBezTo>
                    <a:lnTo>
                      <a:pt x="1250456" y="1064785"/>
                    </a:lnTo>
                    <a:cubicBezTo>
                      <a:pt x="1250456" y="1110715"/>
                      <a:pt x="1213223" y="1147947"/>
                      <a:pt x="1167294" y="1147947"/>
                    </a:cubicBezTo>
                    <a:lnTo>
                      <a:pt x="83162" y="1147947"/>
                    </a:lnTo>
                    <a:cubicBezTo>
                      <a:pt x="37233" y="1147947"/>
                      <a:pt x="0" y="1110715"/>
                      <a:pt x="0" y="1064785"/>
                    </a:cubicBezTo>
                    <a:lnTo>
                      <a:pt x="0" y="83162"/>
                    </a:lnTo>
                    <a:cubicBezTo>
                      <a:pt x="0" y="37233"/>
                      <a:pt x="37233" y="0"/>
                      <a:pt x="83162" y="0"/>
                    </a:cubicBezTo>
                    <a:close/>
                  </a:path>
                </a:pathLst>
              </a:custGeom>
              <a:solidFill>
                <a:srgbClr val="0D4F4E"/>
              </a:solidFill>
              <a:ln w="66675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1250456" cy="12050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1477100"/>
              <a:ext cx="6330431" cy="5811484"/>
              <a:chOff x="0" y="0"/>
              <a:chExt cx="1250456" cy="114794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50456" cy="1147947"/>
              </a:xfrm>
              <a:custGeom>
                <a:avLst/>
                <a:gdLst/>
                <a:ahLst/>
                <a:cxnLst/>
                <a:rect r="r" b="b" t="t" l="l"/>
                <a:pathLst>
                  <a:path h="1147947" w="1250456">
                    <a:moveTo>
                      <a:pt x="83162" y="0"/>
                    </a:moveTo>
                    <a:lnTo>
                      <a:pt x="1167294" y="0"/>
                    </a:lnTo>
                    <a:cubicBezTo>
                      <a:pt x="1213223" y="0"/>
                      <a:pt x="1250456" y="37233"/>
                      <a:pt x="1250456" y="83162"/>
                    </a:cubicBezTo>
                    <a:lnTo>
                      <a:pt x="1250456" y="1064785"/>
                    </a:lnTo>
                    <a:cubicBezTo>
                      <a:pt x="1250456" y="1110715"/>
                      <a:pt x="1213223" y="1147947"/>
                      <a:pt x="1167294" y="1147947"/>
                    </a:cubicBezTo>
                    <a:lnTo>
                      <a:pt x="83162" y="1147947"/>
                    </a:lnTo>
                    <a:cubicBezTo>
                      <a:pt x="37233" y="1147947"/>
                      <a:pt x="0" y="1110715"/>
                      <a:pt x="0" y="1064785"/>
                    </a:cubicBezTo>
                    <a:lnTo>
                      <a:pt x="0" y="83162"/>
                    </a:lnTo>
                    <a:cubicBezTo>
                      <a:pt x="0" y="37233"/>
                      <a:pt x="37233" y="0"/>
                      <a:pt x="83162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66675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1250456" cy="12050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084068" y="88900"/>
              <a:ext cx="2302435" cy="2302435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4F4E"/>
              </a:solidFill>
              <a:ln w="66675" cap="sq">
                <a:solidFill>
                  <a:srgbClr val="0D4F4E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013998" y="0"/>
              <a:ext cx="2302435" cy="2302435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66675" cap="sq">
                <a:solidFill>
                  <a:srgbClr val="0D4F4E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96721" y="2503472"/>
              <a:ext cx="5553936" cy="3608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622"/>
                </a:lnSpc>
              </a:pPr>
              <a:r>
                <a:rPr lang="en-US" sz="2498">
                  <a:solidFill>
                    <a:srgbClr val="0D4F4E"/>
                  </a:solidFill>
                  <a:latin typeface="Lora"/>
                  <a:ea typeface="Lora"/>
                  <a:cs typeface="Lora"/>
                  <a:sym typeface="Lora"/>
                </a:rPr>
                <a:t>Masuk direktori frontend dengan perintah: cd src/frontend. Pastikan Anda berada di root folder proyek sebelum menjalankan perintah ini.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71368" y="280497"/>
              <a:ext cx="2245065" cy="1435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133"/>
                </a:lnSpc>
              </a:pPr>
              <a:r>
                <a:rPr lang="en-US" b="true" sz="6298" i="true">
                  <a:solidFill>
                    <a:srgbClr val="0D4F4E"/>
                  </a:solidFill>
                  <a:latin typeface="Lora Bold Italics"/>
                  <a:ea typeface="Lora Bold Italics"/>
                  <a:cs typeface="Lora Bold Italics"/>
                  <a:sym typeface="Lora Bold Italics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759699" y="3267359"/>
            <a:ext cx="4862123" cy="5571213"/>
            <a:chOff x="0" y="0"/>
            <a:chExt cx="6482831" cy="742828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152400" y="1616800"/>
              <a:ext cx="6330431" cy="5811484"/>
              <a:chOff x="0" y="0"/>
              <a:chExt cx="1250456" cy="114794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50456" cy="1147947"/>
              </a:xfrm>
              <a:custGeom>
                <a:avLst/>
                <a:gdLst/>
                <a:ahLst/>
                <a:cxnLst/>
                <a:rect r="r" b="b" t="t" l="l"/>
                <a:pathLst>
                  <a:path h="1147947" w="1250456">
                    <a:moveTo>
                      <a:pt x="83162" y="0"/>
                    </a:moveTo>
                    <a:lnTo>
                      <a:pt x="1167294" y="0"/>
                    </a:lnTo>
                    <a:cubicBezTo>
                      <a:pt x="1213223" y="0"/>
                      <a:pt x="1250456" y="37233"/>
                      <a:pt x="1250456" y="83162"/>
                    </a:cubicBezTo>
                    <a:lnTo>
                      <a:pt x="1250456" y="1064785"/>
                    </a:lnTo>
                    <a:cubicBezTo>
                      <a:pt x="1250456" y="1110715"/>
                      <a:pt x="1213223" y="1147947"/>
                      <a:pt x="1167294" y="1147947"/>
                    </a:cubicBezTo>
                    <a:lnTo>
                      <a:pt x="83162" y="1147947"/>
                    </a:lnTo>
                    <a:cubicBezTo>
                      <a:pt x="37233" y="1147947"/>
                      <a:pt x="0" y="1110715"/>
                      <a:pt x="0" y="1064785"/>
                    </a:cubicBezTo>
                    <a:lnTo>
                      <a:pt x="0" y="83162"/>
                    </a:lnTo>
                    <a:cubicBezTo>
                      <a:pt x="0" y="37233"/>
                      <a:pt x="37233" y="0"/>
                      <a:pt x="83162" y="0"/>
                    </a:cubicBezTo>
                    <a:close/>
                  </a:path>
                </a:pathLst>
              </a:custGeom>
              <a:solidFill>
                <a:srgbClr val="0D4F4E"/>
              </a:solidFill>
              <a:ln w="66675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1250456" cy="12050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1477100"/>
              <a:ext cx="6330431" cy="5811484"/>
              <a:chOff x="0" y="0"/>
              <a:chExt cx="1250456" cy="114794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250456" cy="1147947"/>
              </a:xfrm>
              <a:custGeom>
                <a:avLst/>
                <a:gdLst/>
                <a:ahLst/>
                <a:cxnLst/>
                <a:rect r="r" b="b" t="t" l="l"/>
                <a:pathLst>
                  <a:path h="1147947" w="1250456">
                    <a:moveTo>
                      <a:pt x="83162" y="0"/>
                    </a:moveTo>
                    <a:lnTo>
                      <a:pt x="1167294" y="0"/>
                    </a:lnTo>
                    <a:cubicBezTo>
                      <a:pt x="1213223" y="0"/>
                      <a:pt x="1250456" y="37233"/>
                      <a:pt x="1250456" y="83162"/>
                    </a:cubicBezTo>
                    <a:lnTo>
                      <a:pt x="1250456" y="1064785"/>
                    </a:lnTo>
                    <a:cubicBezTo>
                      <a:pt x="1250456" y="1110715"/>
                      <a:pt x="1213223" y="1147947"/>
                      <a:pt x="1167294" y="1147947"/>
                    </a:cubicBezTo>
                    <a:lnTo>
                      <a:pt x="83162" y="1147947"/>
                    </a:lnTo>
                    <a:cubicBezTo>
                      <a:pt x="37233" y="1147947"/>
                      <a:pt x="0" y="1110715"/>
                      <a:pt x="0" y="1064785"/>
                    </a:cubicBezTo>
                    <a:lnTo>
                      <a:pt x="0" y="83162"/>
                    </a:lnTo>
                    <a:cubicBezTo>
                      <a:pt x="0" y="37233"/>
                      <a:pt x="37233" y="0"/>
                      <a:pt x="83162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66675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1250456" cy="12050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084068" y="88900"/>
              <a:ext cx="2302435" cy="2302435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4F4E"/>
              </a:solidFill>
              <a:ln w="66675" cap="sq">
                <a:solidFill>
                  <a:srgbClr val="0D4F4E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013998" y="0"/>
              <a:ext cx="2302435" cy="2302435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66675" cap="sq">
                <a:solidFill>
                  <a:srgbClr val="0D4F4E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396721" y="2503472"/>
              <a:ext cx="5553936" cy="3608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622"/>
                </a:lnSpc>
              </a:pPr>
              <a:r>
                <a:rPr lang="en-US" sz="2498">
                  <a:solidFill>
                    <a:srgbClr val="0D4F4E"/>
                  </a:solidFill>
                  <a:latin typeface="Lora"/>
                  <a:ea typeface="Lora"/>
                  <a:cs typeface="Lora"/>
                  <a:sym typeface="Lora"/>
                </a:rPr>
                <a:t>Instal semua package dependencies dengan menjalankan: npm install. Tunggu hingga proses instalasi selesai sepenuhnya.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071368" y="280497"/>
              <a:ext cx="2245065" cy="1435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133"/>
                </a:lnSpc>
              </a:pPr>
              <a:r>
                <a:rPr lang="en-US" b="true" sz="6298" i="true">
                  <a:solidFill>
                    <a:srgbClr val="0D4F4E"/>
                  </a:solidFill>
                  <a:latin typeface="Lora Bold Italics"/>
                  <a:ea typeface="Lora Bold Italics"/>
                  <a:cs typeface="Lora Bold Italics"/>
                  <a:sym typeface="Lora Bold Italics"/>
                </a:rPr>
                <a:t>02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5400000">
            <a:off x="14373501" y="3363927"/>
            <a:ext cx="3982855" cy="3490429"/>
          </a:xfrm>
          <a:custGeom>
            <a:avLst/>
            <a:gdLst/>
            <a:ahLst/>
            <a:cxnLst/>
            <a:rect r="r" b="b" t="t" l="l"/>
            <a:pathLst>
              <a:path h="3490429" w="3982855">
                <a:moveTo>
                  <a:pt x="0" y="0"/>
                </a:moveTo>
                <a:lnTo>
                  <a:pt x="3982855" y="0"/>
                </a:lnTo>
                <a:lnTo>
                  <a:pt x="3982855" y="3490429"/>
                </a:lnTo>
                <a:lnTo>
                  <a:pt x="0" y="34904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2188652" y="3321753"/>
            <a:ext cx="4862123" cy="5571213"/>
            <a:chOff x="0" y="0"/>
            <a:chExt cx="6482831" cy="7428284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152400" y="1616800"/>
              <a:ext cx="6330431" cy="5811484"/>
              <a:chOff x="0" y="0"/>
              <a:chExt cx="1250456" cy="114794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250456" cy="1147947"/>
              </a:xfrm>
              <a:custGeom>
                <a:avLst/>
                <a:gdLst/>
                <a:ahLst/>
                <a:cxnLst/>
                <a:rect r="r" b="b" t="t" l="l"/>
                <a:pathLst>
                  <a:path h="1147947" w="1250456">
                    <a:moveTo>
                      <a:pt x="83162" y="0"/>
                    </a:moveTo>
                    <a:lnTo>
                      <a:pt x="1167294" y="0"/>
                    </a:lnTo>
                    <a:cubicBezTo>
                      <a:pt x="1213223" y="0"/>
                      <a:pt x="1250456" y="37233"/>
                      <a:pt x="1250456" y="83162"/>
                    </a:cubicBezTo>
                    <a:lnTo>
                      <a:pt x="1250456" y="1064785"/>
                    </a:lnTo>
                    <a:cubicBezTo>
                      <a:pt x="1250456" y="1110715"/>
                      <a:pt x="1213223" y="1147947"/>
                      <a:pt x="1167294" y="1147947"/>
                    </a:cubicBezTo>
                    <a:lnTo>
                      <a:pt x="83162" y="1147947"/>
                    </a:lnTo>
                    <a:cubicBezTo>
                      <a:pt x="37233" y="1147947"/>
                      <a:pt x="0" y="1110715"/>
                      <a:pt x="0" y="1064785"/>
                    </a:cubicBezTo>
                    <a:lnTo>
                      <a:pt x="0" y="83162"/>
                    </a:lnTo>
                    <a:cubicBezTo>
                      <a:pt x="0" y="37233"/>
                      <a:pt x="37233" y="0"/>
                      <a:pt x="83162" y="0"/>
                    </a:cubicBezTo>
                    <a:close/>
                  </a:path>
                </a:pathLst>
              </a:custGeom>
              <a:solidFill>
                <a:srgbClr val="0D4F4E"/>
              </a:solidFill>
              <a:ln w="66675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57150"/>
                <a:ext cx="1250456" cy="12050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1477100"/>
              <a:ext cx="6330431" cy="5811484"/>
              <a:chOff x="0" y="0"/>
              <a:chExt cx="1250456" cy="114794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250456" cy="1147947"/>
              </a:xfrm>
              <a:custGeom>
                <a:avLst/>
                <a:gdLst/>
                <a:ahLst/>
                <a:cxnLst/>
                <a:rect r="r" b="b" t="t" l="l"/>
                <a:pathLst>
                  <a:path h="1147947" w="1250456">
                    <a:moveTo>
                      <a:pt x="83162" y="0"/>
                    </a:moveTo>
                    <a:lnTo>
                      <a:pt x="1167294" y="0"/>
                    </a:lnTo>
                    <a:cubicBezTo>
                      <a:pt x="1213223" y="0"/>
                      <a:pt x="1250456" y="37233"/>
                      <a:pt x="1250456" y="83162"/>
                    </a:cubicBezTo>
                    <a:lnTo>
                      <a:pt x="1250456" y="1064785"/>
                    </a:lnTo>
                    <a:cubicBezTo>
                      <a:pt x="1250456" y="1110715"/>
                      <a:pt x="1213223" y="1147947"/>
                      <a:pt x="1167294" y="1147947"/>
                    </a:cubicBezTo>
                    <a:lnTo>
                      <a:pt x="83162" y="1147947"/>
                    </a:lnTo>
                    <a:cubicBezTo>
                      <a:pt x="37233" y="1147947"/>
                      <a:pt x="0" y="1110715"/>
                      <a:pt x="0" y="1064785"/>
                    </a:cubicBezTo>
                    <a:lnTo>
                      <a:pt x="0" y="83162"/>
                    </a:lnTo>
                    <a:cubicBezTo>
                      <a:pt x="0" y="37233"/>
                      <a:pt x="37233" y="0"/>
                      <a:pt x="83162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66675" cap="rnd">
                <a:solidFill>
                  <a:srgbClr val="0D4F4E"/>
                </a:soli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57150"/>
                <a:ext cx="1250456" cy="12050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2084068" y="88900"/>
              <a:ext cx="2302435" cy="2302435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4F4E"/>
              </a:solidFill>
              <a:ln w="66675" cap="sq">
                <a:solidFill>
                  <a:srgbClr val="0D4F4E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2013998" y="0"/>
              <a:ext cx="2302435" cy="2302435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6EB"/>
              </a:solidFill>
              <a:ln w="66675" cap="sq">
                <a:solidFill>
                  <a:srgbClr val="0D4F4E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96721" y="2503472"/>
              <a:ext cx="5553936" cy="2999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622"/>
                </a:lnSpc>
              </a:pPr>
              <a:r>
                <a:rPr lang="en-US" sz="2498">
                  <a:solidFill>
                    <a:srgbClr val="0D4F4E"/>
                  </a:solidFill>
                  <a:latin typeface="Lora"/>
                  <a:ea typeface="Lora"/>
                  <a:cs typeface="Lora"/>
                  <a:sym typeface="Lora"/>
                </a:rPr>
                <a:t>Jalankan development server Vite dengan perintah: npm run dev. Kemudian buka browser ke http://localhost:5173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071368" y="280497"/>
              <a:ext cx="2245065" cy="1435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133"/>
                </a:lnSpc>
              </a:pPr>
              <a:r>
                <a:rPr lang="en-US" b="true" sz="6298" i="true">
                  <a:solidFill>
                    <a:srgbClr val="0D4F4E"/>
                  </a:solidFill>
                  <a:latin typeface="Lora Bold Italics"/>
                  <a:ea typeface="Lora Bold Italics"/>
                  <a:cs typeface="Lora Bold Italics"/>
                  <a:sym typeface="Lora Bold Italics"/>
                </a:rPr>
                <a:t>03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28700" y="9201150"/>
            <a:ext cx="2310956" cy="43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22"/>
              </a:lnSpc>
            </a:pPr>
            <a:r>
              <a:rPr lang="en-US" sz="249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Halaman 09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558511"/>
            <a:ext cx="4950397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Dokumentasi RAG-Chatbot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379121" y="523875"/>
            <a:ext cx="4880179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Setup Frontend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31905" y="8988216"/>
            <a:ext cx="11219657" cy="1798387"/>
            <a:chOff x="0" y="0"/>
            <a:chExt cx="14959543" cy="239785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439269" y="1746115"/>
            <a:ext cx="7409461" cy="137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92"/>
              </a:lnSpc>
            </a:pPr>
            <a:r>
              <a:rPr lang="en-US" sz="9992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TRADE-OFF TEKNIS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3963" y="3651114"/>
            <a:ext cx="4618847" cy="683961"/>
            <a:chOff x="0" y="0"/>
            <a:chExt cx="6158462" cy="91194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1076435" y="0"/>
              <a:ext cx="515116" cy="450726"/>
              <a:chOff x="0" y="0"/>
              <a:chExt cx="812800" cy="711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D6F78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0"/>
                  </a:moveTo>
                  <a:lnTo>
                    <a:pt x="1412450" y="0"/>
                  </a:lnTo>
                  <a:lnTo>
                    <a:pt x="1412450" y="709084"/>
                  </a:lnTo>
                  <a:lnTo>
                    <a:pt x="0" y="709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630025" y="202863"/>
              <a:ext cx="4822212" cy="709084"/>
              <a:chOff x="0" y="0"/>
              <a:chExt cx="952536" cy="1400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52536" cy="140066"/>
              </a:xfrm>
              <a:custGeom>
                <a:avLst/>
                <a:gdLst/>
                <a:ahLst/>
                <a:cxnLst/>
                <a:rect r="r" b="b" t="t" l="l"/>
                <a:pathLst>
                  <a:path h="140066" w="952536">
                    <a:moveTo>
                      <a:pt x="0" y="0"/>
                    </a:moveTo>
                    <a:lnTo>
                      <a:pt x="952536" y="0"/>
                    </a:lnTo>
                    <a:lnTo>
                      <a:pt x="952536" y="140066"/>
                    </a:lnTo>
                    <a:lnTo>
                      <a:pt x="0" y="140066"/>
                    </a:ln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952536" cy="1972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true" rot="0">
              <a:off x="4746012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709084"/>
                  </a:moveTo>
                  <a:lnTo>
                    <a:pt x="1412450" y="709084"/>
                  </a:lnTo>
                  <a:lnTo>
                    <a:pt x="1412450" y="0"/>
                  </a:lnTo>
                  <a:lnTo>
                    <a:pt x="0" y="0"/>
                  </a:lnTo>
                  <a:lnTo>
                    <a:pt x="0" y="709084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23677" y="0"/>
              <a:ext cx="1110316" cy="557405"/>
            </a:xfrm>
            <a:custGeom>
              <a:avLst/>
              <a:gdLst/>
              <a:ahLst/>
              <a:cxnLst/>
              <a:rect r="r" b="b" t="t" l="l"/>
              <a:pathLst>
                <a:path h="557405" w="1110316">
                  <a:moveTo>
                    <a:pt x="0" y="0"/>
                  </a:moveTo>
                  <a:lnTo>
                    <a:pt x="1110316" y="0"/>
                  </a:lnTo>
                  <a:lnTo>
                    <a:pt x="1110316" y="557405"/>
                  </a:lnTo>
                  <a:lnTo>
                    <a:pt x="0" y="557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83464" y="4563675"/>
            <a:ext cx="7565273" cy="227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03"/>
              </a:lnSpc>
            </a:pPr>
            <a:r>
              <a:rPr lang="en-US" sz="2485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Hemat biaya dan resource komputasi karena model besar hanya dipanggil untuk query yang bersifat kompleks contoh query yang berhubungan dengan programming. Model ringan menangani klasifikasi dan pertanyaan general.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98764" y="6156605"/>
            <a:ext cx="7565273" cy="181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03"/>
              </a:lnSpc>
            </a:pPr>
            <a:r>
              <a:rPr lang="en-US" sz="2485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Penundaan kecil terjadi karena proses klasifikasi router terlebih dahulu sebelum pemilihan model. Kompleksitas sistem bertambah dengan adanya logika routing dan pengelolaan multi-model.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9191625"/>
            <a:ext cx="2310956" cy="44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3"/>
              </a:lnSpc>
            </a:pPr>
            <a:r>
              <a:rPr lang="en-US" sz="2485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Halaman 10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06074" y="3782625"/>
            <a:ext cx="3286438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</a:pPr>
            <a:r>
              <a:rPr lang="en-US" b="true" sz="299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Routing Model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98764" y="5286907"/>
            <a:ext cx="4618847" cy="683961"/>
            <a:chOff x="0" y="0"/>
            <a:chExt cx="6158462" cy="91194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1076435" y="0"/>
              <a:ext cx="515116" cy="450726"/>
              <a:chOff x="0" y="0"/>
              <a:chExt cx="812800" cy="7112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D6F78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0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0"/>
                  </a:moveTo>
                  <a:lnTo>
                    <a:pt x="1412450" y="0"/>
                  </a:lnTo>
                  <a:lnTo>
                    <a:pt x="1412450" y="709084"/>
                  </a:lnTo>
                  <a:lnTo>
                    <a:pt x="0" y="709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6" id="26"/>
            <p:cNvGrpSpPr/>
            <p:nvPr/>
          </p:nvGrpSpPr>
          <p:grpSpPr>
            <a:xfrm rot="0">
              <a:off x="630025" y="202863"/>
              <a:ext cx="4822212" cy="709084"/>
              <a:chOff x="0" y="0"/>
              <a:chExt cx="952536" cy="14006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52536" cy="140066"/>
              </a:xfrm>
              <a:custGeom>
                <a:avLst/>
                <a:gdLst/>
                <a:ahLst/>
                <a:cxnLst/>
                <a:rect r="r" b="b" t="t" l="l"/>
                <a:pathLst>
                  <a:path h="140066" w="952536">
                    <a:moveTo>
                      <a:pt x="0" y="0"/>
                    </a:moveTo>
                    <a:lnTo>
                      <a:pt x="952536" y="0"/>
                    </a:lnTo>
                    <a:lnTo>
                      <a:pt x="952536" y="140066"/>
                    </a:lnTo>
                    <a:lnTo>
                      <a:pt x="0" y="140066"/>
                    </a:ln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952536" cy="1972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true" rot="0">
              <a:off x="4746012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709084"/>
                  </a:moveTo>
                  <a:lnTo>
                    <a:pt x="1412450" y="709084"/>
                  </a:lnTo>
                  <a:lnTo>
                    <a:pt x="1412450" y="0"/>
                  </a:lnTo>
                  <a:lnTo>
                    <a:pt x="0" y="0"/>
                  </a:lnTo>
                  <a:lnTo>
                    <a:pt x="0" y="709084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23677" y="0"/>
              <a:ext cx="1110316" cy="557405"/>
            </a:xfrm>
            <a:custGeom>
              <a:avLst/>
              <a:gdLst/>
              <a:ahLst/>
              <a:cxnLst/>
              <a:rect r="r" b="b" t="t" l="l"/>
              <a:pathLst>
                <a:path h="557405" w="1110316">
                  <a:moveTo>
                    <a:pt x="0" y="0"/>
                  </a:moveTo>
                  <a:lnTo>
                    <a:pt x="1110316" y="0"/>
                  </a:lnTo>
                  <a:lnTo>
                    <a:pt x="1110316" y="557405"/>
                  </a:lnTo>
                  <a:lnTo>
                    <a:pt x="0" y="557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722430" y="5422512"/>
            <a:ext cx="3239368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</a:pPr>
            <a:r>
              <a:rPr lang="en-US" b="true" sz="299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Kontra Routing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548986"/>
            <a:ext cx="4950397" cy="50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5"/>
              </a:lnSpc>
            </a:pPr>
            <a:r>
              <a:rPr lang="en-US" sz="2982" spc="223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RAG-Chatbot Docs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79121" y="514350"/>
            <a:ext cx="4880179" cy="50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175"/>
              </a:lnSpc>
            </a:pPr>
            <a:r>
              <a:rPr lang="en-US" sz="2982" spc="223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Model Routing vs Single</a:t>
            </a:r>
          </a:p>
        </p:txBody>
      </p:sp>
      <p:sp>
        <p:nvSpPr>
          <p:cNvPr name="Freeform 34" id="34"/>
          <p:cNvSpPr/>
          <p:nvPr/>
        </p:nvSpPr>
        <p:spPr>
          <a:xfrm flipH="false" flipV="true" rot="0">
            <a:off x="4449558" y="7151300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3576661"/>
                </a:moveTo>
                <a:lnTo>
                  <a:pt x="3939304" y="3576661"/>
                </a:lnTo>
                <a:lnTo>
                  <a:pt x="3939304" y="0"/>
                </a:lnTo>
                <a:lnTo>
                  <a:pt x="0" y="0"/>
                </a:lnTo>
                <a:lnTo>
                  <a:pt x="0" y="357666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false" rot="-10800000">
            <a:off x="14066935" y="2277772"/>
            <a:ext cx="3402715" cy="2982016"/>
          </a:xfrm>
          <a:custGeom>
            <a:avLst/>
            <a:gdLst/>
            <a:ahLst/>
            <a:cxnLst/>
            <a:rect r="r" b="b" t="t" l="l"/>
            <a:pathLst>
              <a:path h="2982016" w="3402715">
                <a:moveTo>
                  <a:pt x="3402715" y="0"/>
                </a:moveTo>
                <a:lnTo>
                  <a:pt x="0" y="0"/>
                </a:lnTo>
                <a:lnTo>
                  <a:pt x="0" y="2982016"/>
                </a:lnTo>
                <a:lnTo>
                  <a:pt x="3402715" y="2982016"/>
                </a:lnTo>
                <a:lnTo>
                  <a:pt x="340271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31905" y="8988216"/>
            <a:ext cx="11219657" cy="1798387"/>
            <a:chOff x="0" y="0"/>
            <a:chExt cx="14959543" cy="239785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439269" y="1746115"/>
            <a:ext cx="7409461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99"/>
              </a:lnSpc>
            </a:pPr>
            <a:r>
              <a:rPr lang="en-US" sz="9999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TRADE-OFF TEKNIS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3963" y="3651114"/>
            <a:ext cx="4618847" cy="683961"/>
            <a:chOff x="0" y="0"/>
            <a:chExt cx="6158462" cy="91194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1076435" y="0"/>
              <a:ext cx="515116" cy="450726"/>
              <a:chOff x="0" y="0"/>
              <a:chExt cx="812800" cy="711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D6F78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0"/>
                  </a:moveTo>
                  <a:lnTo>
                    <a:pt x="1412450" y="0"/>
                  </a:lnTo>
                  <a:lnTo>
                    <a:pt x="1412450" y="709084"/>
                  </a:lnTo>
                  <a:lnTo>
                    <a:pt x="0" y="709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630025" y="202863"/>
              <a:ext cx="4822212" cy="709084"/>
              <a:chOff x="0" y="0"/>
              <a:chExt cx="952536" cy="1400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52536" cy="140066"/>
              </a:xfrm>
              <a:custGeom>
                <a:avLst/>
                <a:gdLst/>
                <a:ahLst/>
                <a:cxnLst/>
                <a:rect r="r" b="b" t="t" l="l"/>
                <a:pathLst>
                  <a:path h="140066" w="952536">
                    <a:moveTo>
                      <a:pt x="0" y="0"/>
                    </a:moveTo>
                    <a:lnTo>
                      <a:pt x="952536" y="0"/>
                    </a:lnTo>
                    <a:lnTo>
                      <a:pt x="952536" y="140066"/>
                    </a:lnTo>
                    <a:lnTo>
                      <a:pt x="0" y="140066"/>
                    </a:ln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952536" cy="1972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true" rot="0">
              <a:off x="4746012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709084"/>
                  </a:moveTo>
                  <a:lnTo>
                    <a:pt x="1412450" y="709084"/>
                  </a:lnTo>
                  <a:lnTo>
                    <a:pt x="1412450" y="0"/>
                  </a:lnTo>
                  <a:lnTo>
                    <a:pt x="0" y="0"/>
                  </a:lnTo>
                  <a:lnTo>
                    <a:pt x="0" y="709084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23677" y="0"/>
              <a:ext cx="1110316" cy="557405"/>
            </a:xfrm>
            <a:custGeom>
              <a:avLst/>
              <a:gdLst/>
              <a:ahLst/>
              <a:cxnLst/>
              <a:rect r="r" b="b" t="t" l="l"/>
              <a:pathLst>
                <a:path h="557405" w="1110316">
                  <a:moveTo>
                    <a:pt x="0" y="0"/>
                  </a:moveTo>
                  <a:lnTo>
                    <a:pt x="1110316" y="0"/>
                  </a:lnTo>
                  <a:lnTo>
                    <a:pt x="1110316" y="557405"/>
                  </a:lnTo>
                  <a:lnTo>
                    <a:pt x="0" y="557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83464" y="4573200"/>
            <a:ext cx="7565273" cy="18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24"/>
              </a:lnSpc>
            </a:pPr>
            <a:r>
              <a:rPr lang="en-US" sz="2499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Pro: Data tersimpan 100% lokal sehingga privasi terjamin sepenuhnya. Tidak ada biaya API tambahan karena berjalan di mesin sendiri. Setup mudah dan cepat untuk pengembangan.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98764" y="6156605"/>
            <a:ext cx="7565273" cy="273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50"/>
              </a:lnSpc>
            </a:pPr>
            <a:r>
              <a:rPr lang="en-US" sz="3000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Kontra ChromaDB Lokal: Kurang skalabel untuk beban besar dan traffic tinggi. Kapasitas penyimpanan tergantung disk server. Tidak ada redundansi atau backup otomatis.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9210675"/>
            <a:ext cx="2310956" cy="31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8"/>
              </a:lnSpc>
            </a:pPr>
            <a:r>
              <a:rPr lang="en-US" sz="177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Halaman 11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06074" y="3773100"/>
            <a:ext cx="357302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ChromaDB Lokal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98764" y="5286907"/>
            <a:ext cx="4618847" cy="683961"/>
            <a:chOff x="0" y="0"/>
            <a:chExt cx="6158462" cy="91194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1076435" y="0"/>
              <a:ext cx="515116" cy="450726"/>
              <a:chOff x="0" y="0"/>
              <a:chExt cx="812800" cy="7112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D6F78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0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0"/>
                  </a:moveTo>
                  <a:lnTo>
                    <a:pt x="1412450" y="0"/>
                  </a:lnTo>
                  <a:lnTo>
                    <a:pt x="1412450" y="709084"/>
                  </a:lnTo>
                  <a:lnTo>
                    <a:pt x="0" y="709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6" id="26"/>
            <p:cNvGrpSpPr/>
            <p:nvPr/>
          </p:nvGrpSpPr>
          <p:grpSpPr>
            <a:xfrm rot="0">
              <a:off x="630025" y="202863"/>
              <a:ext cx="4822212" cy="709084"/>
              <a:chOff x="0" y="0"/>
              <a:chExt cx="952536" cy="14006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52536" cy="140066"/>
              </a:xfrm>
              <a:custGeom>
                <a:avLst/>
                <a:gdLst/>
                <a:ahLst/>
                <a:cxnLst/>
                <a:rect r="r" b="b" t="t" l="l"/>
                <a:pathLst>
                  <a:path h="140066" w="952536">
                    <a:moveTo>
                      <a:pt x="0" y="0"/>
                    </a:moveTo>
                    <a:lnTo>
                      <a:pt x="952536" y="0"/>
                    </a:lnTo>
                    <a:lnTo>
                      <a:pt x="952536" y="140066"/>
                    </a:lnTo>
                    <a:lnTo>
                      <a:pt x="0" y="140066"/>
                    </a:ln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952536" cy="1972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true" rot="0">
              <a:off x="4746012" y="202863"/>
              <a:ext cx="1412450" cy="709084"/>
            </a:xfrm>
            <a:custGeom>
              <a:avLst/>
              <a:gdLst/>
              <a:ahLst/>
              <a:cxnLst/>
              <a:rect r="r" b="b" t="t" l="l"/>
              <a:pathLst>
                <a:path h="709084" w="1412450">
                  <a:moveTo>
                    <a:pt x="0" y="709084"/>
                  </a:moveTo>
                  <a:lnTo>
                    <a:pt x="1412450" y="709084"/>
                  </a:lnTo>
                  <a:lnTo>
                    <a:pt x="1412450" y="0"/>
                  </a:lnTo>
                  <a:lnTo>
                    <a:pt x="0" y="0"/>
                  </a:lnTo>
                  <a:lnTo>
                    <a:pt x="0" y="709084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23677" y="0"/>
              <a:ext cx="1110316" cy="557405"/>
            </a:xfrm>
            <a:custGeom>
              <a:avLst/>
              <a:gdLst/>
              <a:ahLst/>
              <a:cxnLst/>
              <a:rect r="r" b="b" t="t" l="l"/>
              <a:pathLst>
                <a:path h="557405" w="1110316">
                  <a:moveTo>
                    <a:pt x="0" y="0"/>
                  </a:moveTo>
                  <a:lnTo>
                    <a:pt x="1110316" y="0"/>
                  </a:lnTo>
                  <a:lnTo>
                    <a:pt x="1110316" y="557405"/>
                  </a:lnTo>
                  <a:lnTo>
                    <a:pt x="0" y="557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722430" y="5412987"/>
            <a:ext cx="323936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Cloud VectorDB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548986"/>
            <a:ext cx="495039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spc="225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RAG-Chatbot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79121" y="514350"/>
            <a:ext cx="48801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200"/>
              </a:lnSpc>
            </a:pPr>
            <a:r>
              <a:rPr lang="en-US" sz="3000" spc="225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Dokumentasi Teknis</a:t>
            </a:r>
          </a:p>
        </p:txBody>
      </p:sp>
      <p:sp>
        <p:nvSpPr>
          <p:cNvPr name="Freeform 34" id="34"/>
          <p:cNvSpPr/>
          <p:nvPr/>
        </p:nvSpPr>
        <p:spPr>
          <a:xfrm flipH="false" flipV="true" rot="0">
            <a:off x="4449558" y="7151300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3576661"/>
                </a:moveTo>
                <a:lnTo>
                  <a:pt x="3939304" y="3576661"/>
                </a:lnTo>
                <a:lnTo>
                  <a:pt x="3939304" y="0"/>
                </a:lnTo>
                <a:lnTo>
                  <a:pt x="0" y="0"/>
                </a:lnTo>
                <a:lnTo>
                  <a:pt x="0" y="357666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false" rot="-10800000">
            <a:off x="14066935" y="2277772"/>
            <a:ext cx="3402715" cy="2982016"/>
          </a:xfrm>
          <a:custGeom>
            <a:avLst/>
            <a:gdLst/>
            <a:ahLst/>
            <a:cxnLst/>
            <a:rect r="r" b="b" t="t" l="l"/>
            <a:pathLst>
              <a:path h="2982016" w="3402715">
                <a:moveTo>
                  <a:pt x="3402715" y="0"/>
                </a:moveTo>
                <a:lnTo>
                  <a:pt x="0" y="0"/>
                </a:lnTo>
                <a:lnTo>
                  <a:pt x="0" y="2982016"/>
                </a:lnTo>
                <a:lnTo>
                  <a:pt x="3402715" y="2982016"/>
                </a:lnTo>
                <a:lnTo>
                  <a:pt x="340271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31905" y="8988216"/>
            <a:ext cx="11219657" cy="1798387"/>
            <a:chOff x="0" y="0"/>
            <a:chExt cx="14959543" cy="239785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439269" y="1746115"/>
            <a:ext cx="7409461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99"/>
              </a:lnSpc>
            </a:pPr>
            <a:r>
              <a:rPr lang="en-US" sz="9999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TRADE-OFF TEKNIS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3963" y="3651114"/>
            <a:ext cx="5195248" cy="769314"/>
            <a:chOff x="0" y="0"/>
            <a:chExt cx="6926997" cy="102575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1210767" y="0"/>
              <a:ext cx="579399" cy="506974"/>
              <a:chOff x="0" y="0"/>
              <a:chExt cx="812800" cy="711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D6F78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228179"/>
              <a:ext cx="1588714" cy="797573"/>
            </a:xfrm>
            <a:custGeom>
              <a:avLst/>
              <a:gdLst/>
              <a:ahLst/>
              <a:cxnLst/>
              <a:rect r="r" b="b" t="t" l="l"/>
              <a:pathLst>
                <a:path h="797573" w="1588714">
                  <a:moveTo>
                    <a:pt x="0" y="0"/>
                  </a:moveTo>
                  <a:lnTo>
                    <a:pt x="1588714" y="0"/>
                  </a:lnTo>
                  <a:lnTo>
                    <a:pt x="1588714" y="797573"/>
                  </a:lnTo>
                  <a:lnTo>
                    <a:pt x="0" y="797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708648" y="228179"/>
              <a:ext cx="5423992" cy="797573"/>
              <a:chOff x="0" y="0"/>
              <a:chExt cx="952536" cy="1400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52536" cy="140066"/>
              </a:xfrm>
              <a:custGeom>
                <a:avLst/>
                <a:gdLst/>
                <a:ahLst/>
                <a:cxnLst/>
                <a:rect r="r" b="b" t="t" l="l"/>
                <a:pathLst>
                  <a:path h="140066" w="952536">
                    <a:moveTo>
                      <a:pt x="0" y="0"/>
                    </a:moveTo>
                    <a:lnTo>
                      <a:pt x="952536" y="0"/>
                    </a:lnTo>
                    <a:lnTo>
                      <a:pt x="952536" y="140066"/>
                    </a:lnTo>
                    <a:lnTo>
                      <a:pt x="0" y="140066"/>
                    </a:ln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952536" cy="1972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true" rot="0">
              <a:off x="5338283" y="228179"/>
              <a:ext cx="1588714" cy="797573"/>
            </a:xfrm>
            <a:custGeom>
              <a:avLst/>
              <a:gdLst/>
              <a:ahLst/>
              <a:cxnLst/>
              <a:rect r="r" b="b" t="t" l="l"/>
              <a:pathLst>
                <a:path h="797573" w="1588714">
                  <a:moveTo>
                    <a:pt x="0" y="797573"/>
                  </a:moveTo>
                  <a:lnTo>
                    <a:pt x="1588714" y="797573"/>
                  </a:lnTo>
                  <a:lnTo>
                    <a:pt x="1588714" y="0"/>
                  </a:lnTo>
                  <a:lnTo>
                    <a:pt x="0" y="0"/>
                  </a:lnTo>
                  <a:lnTo>
                    <a:pt x="0" y="797573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1591" y="0"/>
              <a:ext cx="1248876" cy="626966"/>
            </a:xfrm>
            <a:custGeom>
              <a:avLst/>
              <a:gdLst/>
              <a:ahLst/>
              <a:cxnLst/>
              <a:rect r="r" b="b" t="t" l="l"/>
              <a:pathLst>
                <a:path h="626966" w="1248876">
                  <a:moveTo>
                    <a:pt x="0" y="0"/>
                  </a:moveTo>
                  <a:lnTo>
                    <a:pt x="1248876" y="0"/>
                  </a:lnTo>
                  <a:lnTo>
                    <a:pt x="1248876" y="626966"/>
                  </a:lnTo>
                  <a:lnTo>
                    <a:pt x="0" y="62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83464" y="4563675"/>
            <a:ext cx="7565273" cy="273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50"/>
              </a:lnSpc>
            </a:pPr>
            <a:r>
              <a:rPr lang="en-US" sz="3000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Sangat baik untuk menjaga teks yang relevan dalam chunk yang sama. Dengan menerapkan sedikit overlap, ini mengurangi kemungkinan teks yang relevan untuk terpisah.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98764" y="6156605"/>
            <a:ext cx="7565273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50"/>
              </a:lnSpc>
            </a:pPr>
            <a:r>
              <a:rPr lang="en-US" sz="3000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Lebih berat dalam segi komputasi dan size chunk yang besar juga memakan lebih token dan cost.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9210675"/>
            <a:ext cx="2310956" cy="31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8"/>
              </a:lnSpc>
            </a:pPr>
            <a:r>
              <a:rPr lang="en-US" sz="1778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Halaman 11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06074" y="3773100"/>
            <a:ext cx="401313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Recursive Chunking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98764" y="5286907"/>
            <a:ext cx="5320446" cy="787854"/>
            <a:chOff x="0" y="0"/>
            <a:chExt cx="7093928" cy="105047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1239945" y="0"/>
              <a:ext cx="593361" cy="519191"/>
              <a:chOff x="0" y="0"/>
              <a:chExt cx="812800" cy="7112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D6F78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0" y="233678"/>
              <a:ext cx="1627000" cy="816793"/>
            </a:xfrm>
            <a:custGeom>
              <a:avLst/>
              <a:gdLst/>
              <a:ahLst/>
              <a:cxnLst/>
              <a:rect r="r" b="b" t="t" l="l"/>
              <a:pathLst>
                <a:path h="816793" w="1627000">
                  <a:moveTo>
                    <a:pt x="0" y="0"/>
                  </a:moveTo>
                  <a:lnTo>
                    <a:pt x="1627000" y="0"/>
                  </a:lnTo>
                  <a:lnTo>
                    <a:pt x="1627000" y="816794"/>
                  </a:lnTo>
                  <a:lnTo>
                    <a:pt x="0" y="816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6" id="26"/>
            <p:cNvGrpSpPr/>
            <p:nvPr/>
          </p:nvGrpSpPr>
          <p:grpSpPr>
            <a:xfrm rot="0">
              <a:off x="725725" y="233678"/>
              <a:ext cx="5554703" cy="816793"/>
              <a:chOff x="0" y="0"/>
              <a:chExt cx="952536" cy="14006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52536" cy="140066"/>
              </a:xfrm>
              <a:custGeom>
                <a:avLst/>
                <a:gdLst/>
                <a:ahLst/>
                <a:cxnLst/>
                <a:rect r="r" b="b" t="t" l="l"/>
                <a:pathLst>
                  <a:path h="140066" w="952536">
                    <a:moveTo>
                      <a:pt x="0" y="0"/>
                    </a:moveTo>
                    <a:lnTo>
                      <a:pt x="952536" y="0"/>
                    </a:lnTo>
                    <a:lnTo>
                      <a:pt x="952536" y="140066"/>
                    </a:lnTo>
                    <a:lnTo>
                      <a:pt x="0" y="140066"/>
                    </a:lnTo>
                    <a:close/>
                  </a:path>
                </a:pathLst>
              </a:custGeom>
              <a:solidFill>
                <a:srgbClr val="0D4F4E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952536" cy="1972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24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true" rot="0">
              <a:off x="5466928" y="233678"/>
              <a:ext cx="1627000" cy="816793"/>
            </a:xfrm>
            <a:custGeom>
              <a:avLst/>
              <a:gdLst/>
              <a:ahLst/>
              <a:cxnLst/>
              <a:rect r="r" b="b" t="t" l="l"/>
              <a:pathLst>
                <a:path h="816793" w="1627000">
                  <a:moveTo>
                    <a:pt x="0" y="816794"/>
                  </a:moveTo>
                  <a:lnTo>
                    <a:pt x="1627000" y="816794"/>
                  </a:lnTo>
                  <a:lnTo>
                    <a:pt x="1627000" y="0"/>
                  </a:lnTo>
                  <a:lnTo>
                    <a:pt x="0" y="0"/>
                  </a:lnTo>
                  <a:lnTo>
                    <a:pt x="0" y="816794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7654" y="0"/>
              <a:ext cx="1278972" cy="642075"/>
            </a:xfrm>
            <a:custGeom>
              <a:avLst/>
              <a:gdLst/>
              <a:ahLst/>
              <a:cxnLst/>
              <a:rect r="r" b="b" t="t" l="l"/>
              <a:pathLst>
                <a:path h="642075" w="1278972">
                  <a:moveTo>
                    <a:pt x="0" y="0"/>
                  </a:moveTo>
                  <a:lnTo>
                    <a:pt x="1278972" y="0"/>
                  </a:lnTo>
                  <a:lnTo>
                    <a:pt x="1278972" y="642075"/>
                  </a:lnTo>
                  <a:lnTo>
                    <a:pt x="0" y="642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722430" y="5412987"/>
            <a:ext cx="388230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Recursive Chunking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548986"/>
            <a:ext cx="495039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spc="225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RAG-Chatbot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79121" y="514350"/>
            <a:ext cx="48801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200"/>
              </a:lnSpc>
            </a:pPr>
            <a:r>
              <a:rPr lang="en-US" sz="3000" spc="225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Dokumentasi Teknis</a:t>
            </a:r>
          </a:p>
        </p:txBody>
      </p:sp>
      <p:sp>
        <p:nvSpPr>
          <p:cNvPr name="Freeform 34" id="34"/>
          <p:cNvSpPr/>
          <p:nvPr/>
        </p:nvSpPr>
        <p:spPr>
          <a:xfrm flipH="false" flipV="true" rot="0">
            <a:off x="4449558" y="7151300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3576661"/>
                </a:moveTo>
                <a:lnTo>
                  <a:pt x="3939304" y="3576661"/>
                </a:lnTo>
                <a:lnTo>
                  <a:pt x="3939304" y="0"/>
                </a:lnTo>
                <a:lnTo>
                  <a:pt x="0" y="0"/>
                </a:lnTo>
                <a:lnTo>
                  <a:pt x="0" y="357666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false" rot="-10800000">
            <a:off x="14066935" y="2277772"/>
            <a:ext cx="3402715" cy="2982016"/>
          </a:xfrm>
          <a:custGeom>
            <a:avLst/>
            <a:gdLst/>
            <a:ahLst/>
            <a:cxnLst/>
            <a:rect r="r" b="b" t="t" l="l"/>
            <a:pathLst>
              <a:path h="2982016" w="3402715">
                <a:moveTo>
                  <a:pt x="3402715" y="0"/>
                </a:moveTo>
                <a:lnTo>
                  <a:pt x="0" y="0"/>
                </a:lnTo>
                <a:lnTo>
                  <a:pt x="0" y="2982016"/>
                </a:lnTo>
                <a:lnTo>
                  <a:pt x="3402715" y="2982016"/>
                </a:lnTo>
                <a:lnTo>
                  <a:pt x="340271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31905" y="8988216"/>
            <a:ext cx="11219657" cy="1798387"/>
            <a:chOff x="0" y="0"/>
            <a:chExt cx="14959543" cy="239785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074087" y="1698490"/>
            <a:ext cx="6139826" cy="95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49"/>
              </a:lnSpc>
            </a:pPr>
            <a:r>
              <a:rPr lang="en-US" sz="6904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LIMITASI SISTEM SAAT INI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14526" y="1338239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0"/>
                </a:moveTo>
                <a:lnTo>
                  <a:pt x="3939304" y="0"/>
                </a:lnTo>
                <a:lnTo>
                  <a:pt x="3939304" y="3576661"/>
                </a:lnTo>
                <a:lnTo>
                  <a:pt x="0" y="35766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68790" y="3603489"/>
            <a:ext cx="11350421" cy="325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1"/>
              </a:lnSpc>
            </a:pPr>
            <a:r>
              <a:rPr lang="en-US" sz="2249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Berikut adalah keterbatasan yang diketahui pada sistem RAG-Chatbot saat ini:</a:t>
            </a:r>
          </a:p>
          <a:p>
            <a:pPr algn="l" marL="485691" indent="-242845" lvl="1">
              <a:lnSpc>
                <a:spcPts val="3261"/>
              </a:lnSpc>
              <a:buAutoNum type="arabicPeriod" startAt="1"/>
            </a:pPr>
            <a:r>
              <a:rPr lang="en-US" sz="2249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Ekstraksi teks PDF gambar (hasil scan) tidak didukung karena sistem belum mengintegrasikan OCR - dokumen yang berisi gambar atau scan tidak dapat diproses dengan baik.</a:t>
            </a:r>
          </a:p>
          <a:p>
            <a:pPr algn="l" marL="485691" indent="-242845" lvl="1">
              <a:lnSpc>
                <a:spcPts val="3261"/>
              </a:lnSpc>
              <a:buAutoNum type="arabicPeriod" startAt="1"/>
            </a:pPr>
            <a:r>
              <a:rPr lang="en-US" sz="2249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Penimpaan file otomatis jika nama sama - file yang diupload dengan nama identik akan langsung overwrite tanpa konfirmasi, berpotensi kehilangan data.</a:t>
            </a:r>
          </a:p>
          <a:p>
            <a:pPr algn="l" marL="485691" indent="-242845" lvl="1">
              <a:lnSpc>
                <a:spcPts val="3261"/>
              </a:lnSpc>
              <a:buAutoNum type="arabicPeriod" startAt="1"/>
            </a:pPr>
            <a:r>
              <a:rPr lang="en-US" sz="2249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Konflik klasifikasi router pada pertanyaan ambigu - model router kadang salah memilih antara Specialist dan Generalist untuk kueri yang tidak jelas kategorinya.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210675"/>
            <a:ext cx="2310956" cy="3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1"/>
              </a:lnSpc>
            </a:pPr>
            <a:r>
              <a:rPr lang="en-US" sz="2249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Halaman 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58511"/>
            <a:ext cx="4950397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</a:pPr>
            <a:r>
              <a:rPr lang="en-US" sz="2997" spc="224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RAG-Chatbot Docs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79121" y="523875"/>
            <a:ext cx="4880179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197"/>
              </a:lnSpc>
            </a:pPr>
            <a:r>
              <a:rPr lang="en-US" sz="2997" spc="224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Dokumentasi Teknis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0800000">
            <a:off x="15658186" y="5143500"/>
            <a:ext cx="3943940" cy="3456325"/>
          </a:xfrm>
          <a:custGeom>
            <a:avLst/>
            <a:gdLst/>
            <a:ahLst/>
            <a:cxnLst/>
            <a:rect r="r" b="b" t="t" l="l"/>
            <a:pathLst>
              <a:path h="3456325" w="3943940">
                <a:moveTo>
                  <a:pt x="0" y="0"/>
                </a:moveTo>
                <a:lnTo>
                  <a:pt x="3943939" y="0"/>
                </a:lnTo>
                <a:lnTo>
                  <a:pt x="3943939" y="3456325"/>
                </a:lnTo>
                <a:lnTo>
                  <a:pt x="0" y="345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31905" y="8988216"/>
            <a:ext cx="11219657" cy="1798387"/>
            <a:chOff x="0" y="0"/>
            <a:chExt cx="14959543" cy="239785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0" y="2397850"/>
                  </a:moveTo>
                  <a:lnTo>
                    <a:pt x="12680937" y="2397850"/>
                  </a:lnTo>
                  <a:lnTo>
                    <a:pt x="12680937" y="0"/>
                  </a:lnTo>
                  <a:lnTo>
                    <a:pt x="0" y="0"/>
                  </a:lnTo>
                  <a:lnTo>
                    <a:pt x="0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074087" y="1679440"/>
            <a:ext cx="6139826" cy="145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56"/>
              </a:lnSpc>
            </a:pPr>
            <a:r>
              <a:rPr lang="en-US" sz="5386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RENCANA PENGEMBANGAN LANJUTAN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14526" y="1338239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0"/>
                </a:moveTo>
                <a:lnTo>
                  <a:pt x="3939304" y="0"/>
                </a:lnTo>
                <a:lnTo>
                  <a:pt x="3939304" y="3576661"/>
                </a:lnTo>
                <a:lnTo>
                  <a:pt x="0" y="35766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68790" y="3603489"/>
            <a:ext cx="11350421" cy="295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6"/>
              </a:lnSpc>
            </a:pPr>
            <a:r>
              <a:rPr lang="en-US" sz="2066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Target fitur dan perbaikan masa depan untuk meningkatkan kapabilitas sistem RAG-Chatbot:</a:t>
            </a:r>
          </a:p>
          <a:p>
            <a:pPr algn="l" marL="446137" indent="-223069" lvl="1">
              <a:lnSpc>
                <a:spcPts val="2996"/>
              </a:lnSpc>
              <a:buAutoNum type="arabicPeriod" startAt="1"/>
            </a:pPr>
            <a:r>
              <a:rPr lang="en-US" sz="2066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Membuat d</a:t>
            </a:r>
            <a:r>
              <a:rPr lang="en-US" sz="2066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atabase riwayat percakapan (PostgreSQL/SQLite)</a:t>
            </a:r>
          </a:p>
          <a:p>
            <a:pPr algn="l" marL="446137" indent="-223069" lvl="1">
              <a:lnSpc>
                <a:spcPts val="2996"/>
              </a:lnSpc>
              <a:buAutoNum type="arabicPeriod" startAt="1"/>
            </a:pPr>
            <a:r>
              <a:rPr lang="en-US" sz="2066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Fine-tuning Model dengan LoRA</a:t>
            </a:r>
          </a:p>
          <a:p>
            <a:pPr algn="l" marL="446137" indent="-223069" lvl="1">
              <a:lnSpc>
                <a:spcPts val="2996"/>
              </a:lnSpc>
              <a:buAutoNum type="arabicPeriod" startAt="1"/>
            </a:pPr>
            <a:r>
              <a:rPr lang="en-US" sz="2066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Implementasi Agentic Search</a:t>
            </a:r>
          </a:p>
          <a:p>
            <a:pPr algn="l" marL="446137" indent="-223069" lvl="1">
              <a:lnSpc>
                <a:spcPts val="2996"/>
              </a:lnSpc>
              <a:buAutoNum type="arabicPeriod" startAt="1"/>
            </a:pPr>
            <a:r>
              <a:rPr lang="en-US" sz="2066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Integrasi OCR (Tesseract/PyTesseract)</a:t>
            </a:r>
          </a:p>
          <a:p>
            <a:pPr algn="l" marL="446137" indent="-223069" lvl="1">
              <a:lnSpc>
                <a:spcPts val="2996"/>
              </a:lnSpc>
              <a:buAutoNum type="arabicPeriod" startAt="1"/>
            </a:pPr>
            <a:r>
              <a:rPr lang="en-US" sz="2066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Ekstraksi teks dari dokumen PDF berbasis gambar/scan.</a:t>
            </a:r>
          </a:p>
          <a:p>
            <a:pPr algn="l" marL="446137" indent="-223069" lvl="1">
              <a:lnSpc>
                <a:spcPts val="2996"/>
              </a:lnSpc>
              <a:buAutoNum type="arabicPeriod" startAt="1"/>
            </a:pPr>
            <a:r>
              <a:rPr lang="en-US" sz="2066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Dockerize proyek</a:t>
            </a:r>
          </a:p>
          <a:p>
            <a:pPr algn="l" marL="446137" indent="-223069" lvl="1">
              <a:lnSpc>
                <a:spcPts val="2996"/>
              </a:lnSpc>
              <a:buAutoNum type="arabicPeriod" startAt="1"/>
            </a:pPr>
            <a:r>
              <a:rPr lang="en-US" sz="2066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Implementasi caching untuk performa yang lebih baik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210675"/>
            <a:ext cx="2310956" cy="353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6"/>
              </a:lnSpc>
            </a:pPr>
            <a:r>
              <a:rPr lang="en-US" sz="2066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Halaman 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58511"/>
            <a:ext cx="4950397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Dokumentasi RAG-Chatbot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79121" y="523875"/>
            <a:ext cx="4880179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Rencana Pengembangan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0800000">
            <a:off x="15658186" y="5143500"/>
            <a:ext cx="3943940" cy="3456325"/>
          </a:xfrm>
          <a:custGeom>
            <a:avLst/>
            <a:gdLst/>
            <a:ahLst/>
            <a:cxnLst/>
            <a:rect r="r" b="b" t="t" l="l"/>
            <a:pathLst>
              <a:path h="3456325" w="3943940">
                <a:moveTo>
                  <a:pt x="0" y="0"/>
                </a:moveTo>
                <a:lnTo>
                  <a:pt x="3943939" y="0"/>
                </a:lnTo>
                <a:lnTo>
                  <a:pt x="3943939" y="3456325"/>
                </a:lnTo>
                <a:lnTo>
                  <a:pt x="0" y="345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00795" y="3351445"/>
            <a:ext cx="12486411" cy="2725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01"/>
              </a:lnSpc>
            </a:pPr>
            <a:r>
              <a:rPr lang="en-US" sz="19811">
                <a:solidFill>
                  <a:srgbClr val="0D4F4E"/>
                </a:solidFill>
                <a:latin typeface="League Gothic"/>
                <a:ea typeface="League Gothic"/>
                <a:cs typeface="League Gothic"/>
                <a:sym typeface="League Gothic"/>
              </a:rPr>
              <a:t>TERIMA KASIH!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756500" y="9023475"/>
            <a:ext cx="11219657" cy="1798387"/>
            <a:chOff x="0" y="0"/>
            <a:chExt cx="14959543" cy="2397850"/>
          </a:xfrm>
        </p:grpSpPr>
        <p:sp>
          <p:nvSpPr>
            <p:cNvPr name="Freeform 4" id="4"/>
            <p:cNvSpPr/>
            <p:nvPr/>
          </p:nvSpPr>
          <p:spPr>
            <a:xfrm flipH="true" flipV="true" rot="0">
              <a:off x="2278606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12680937" y="2397850"/>
                  </a:moveTo>
                  <a:lnTo>
                    <a:pt x="0" y="2397850"/>
                  </a:lnTo>
                  <a:lnTo>
                    <a:pt x="0" y="0"/>
                  </a:lnTo>
                  <a:lnTo>
                    <a:pt x="12680937" y="0"/>
                  </a:lnTo>
                  <a:lnTo>
                    <a:pt x="12680937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true" rot="0">
              <a:off x="1084844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12680937" y="2397850"/>
                  </a:moveTo>
                  <a:lnTo>
                    <a:pt x="0" y="2397850"/>
                  </a:lnTo>
                  <a:lnTo>
                    <a:pt x="0" y="0"/>
                  </a:lnTo>
                  <a:lnTo>
                    <a:pt x="12680937" y="0"/>
                  </a:lnTo>
                  <a:lnTo>
                    <a:pt x="12680937" y="239785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true" rot="0">
              <a:off x="0" y="0"/>
              <a:ext cx="12680937" cy="2397850"/>
            </a:xfrm>
            <a:custGeom>
              <a:avLst/>
              <a:gdLst/>
              <a:ahLst/>
              <a:cxnLst/>
              <a:rect r="r" b="b" t="t" l="l"/>
              <a:pathLst>
                <a:path h="2397850" w="12680937">
                  <a:moveTo>
                    <a:pt x="12680937" y="2397850"/>
                  </a:moveTo>
                  <a:lnTo>
                    <a:pt x="0" y="2397850"/>
                  </a:lnTo>
                  <a:lnTo>
                    <a:pt x="0" y="0"/>
                  </a:lnTo>
                  <a:lnTo>
                    <a:pt x="12680937" y="0"/>
                  </a:lnTo>
                  <a:lnTo>
                    <a:pt x="12680937" y="239785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558511"/>
            <a:ext cx="4950397" cy="4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sz="2699" spc="202">
                <a:solidFill>
                  <a:srgbClr val="0D4F4E"/>
                </a:solidFill>
                <a:latin typeface="Lora"/>
                <a:ea typeface="Lora"/>
                <a:cs typeface="Lora"/>
                <a:sym typeface="Lora"/>
              </a:rPr>
              <a:t>Dokumentasi RAG-Chatbot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87325" y="1566839"/>
            <a:ext cx="3939304" cy="3576661"/>
          </a:xfrm>
          <a:custGeom>
            <a:avLst/>
            <a:gdLst/>
            <a:ahLst/>
            <a:cxnLst/>
            <a:rect r="r" b="b" t="t" l="l"/>
            <a:pathLst>
              <a:path h="3576661" w="3939304">
                <a:moveTo>
                  <a:pt x="0" y="0"/>
                </a:moveTo>
                <a:lnTo>
                  <a:pt x="3939305" y="0"/>
                </a:lnTo>
                <a:lnTo>
                  <a:pt x="3939305" y="3576661"/>
                </a:lnTo>
                <a:lnTo>
                  <a:pt x="0" y="35766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3921933" y="6222536"/>
            <a:ext cx="3943940" cy="3456325"/>
          </a:xfrm>
          <a:custGeom>
            <a:avLst/>
            <a:gdLst/>
            <a:ahLst/>
            <a:cxnLst/>
            <a:rect r="r" b="b" t="t" l="l"/>
            <a:pathLst>
              <a:path h="3456325" w="3943940">
                <a:moveTo>
                  <a:pt x="0" y="0"/>
                </a:moveTo>
                <a:lnTo>
                  <a:pt x="3943940" y="0"/>
                </a:lnTo>
                <a:lnTo>
                  <a:pt x="3943940" y="3456326"/>
                </a:lnTo>
                <a:lnTo>
                  <a:pt x="0" y="34563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DAHJXsn4ar0</dc:identifier>
  <dcterms:modified xsi:type="dcterms:W3CDTF">2011-08-01T06:04:30Z</dcterms:modified>
  <cp:revision>1</cp:revision>
  <dc:title>Presentasi dengan Template Pilihan</dc:title>
</cp:coreProperties>
</file>